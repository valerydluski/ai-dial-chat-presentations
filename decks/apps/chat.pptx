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apps-chat-01
This application owns integration, including providers, routing, language, theme, configured API clients and feature availability. Its role is broader than any one component library.
Sources:
apps/chat/src/main.tsx:1-108
apps/chat/src/app/app.tsx:1-582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apps-chat-02
The route enum and app route registration are the current scope. User-visible capabilities can be gated by server configuration and deployment support.
Sources:
apps/chat/src/types/routes.ts:1-30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apps-chat-03
main.tsx imports base styles and i18n, creates the tooltip portal, and nests providers before rendering App. RequireAuth guards the main workspace. Login and overlay-close routes are mounted at the higher routing layer.
Sources:
apps/chat/src/main.tsx:1-108
apps/chat/src/app/app.tsx:1-582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apps-chat-04
These are actual provider names from the entry point. Do not move them into libraries to simplify imports. When reusing a component independently, replace the relevant application adapter with explicitly supplied data and callbacks.
Sources:
apps/chat/src/main.tsx:1-108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apps-chat-05
ROUTES declares more specific variants for edit/detail/callback and invitations. Many route components use React.lazy and Suspense; the conversation page is eagerly prefetched before its lazy wrapper. Do not document every route as loaded in the same way.
Sources:
apps/chat/src/types/routes.ts:1-30
apps/chat/src/app/app.tsx:1-582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apps-chat-06
The page supplies the stream hook and input components with state derived from app contexts. createChatStreamApi receives host paths and CSRF callbacks from the app adapter. Generation result updates flow back into the message components, while persistence remains in the BFF. The stream-hook node is useConversationStream; the concise node label avoids excessive wrapping.
Sources:
apps/chat/src/pages/Conversation/Conversation.tsx:1-757
apps/chat/src/server-api/chat-stream.api.ts:1-17
libs/chat-hooks/src/conversation/useConversationStream/useConversationStream.ts:1-606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apps-chat-07
The middleware variables are defined in the source file, not globals. CSRF and unauthorized behavior are supplied through callback-based factories from chat-hooks, with browser/session state remaining app-owned. Full source-linked contract information is in the bundle index.
Sources:
apps/chat/src/server-api/api-client.ts:1-106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apps-chat-08
These application containers connect source-derived message data to generic display components. URL resolution, PDF worker setup and feature flags should be inspected at this edge rather than inferred from the presentation component alone.
Sources:
apps/chat/src/components/ConversationView/ConversationMessageItem.tsx:1-898
apps/chat/src/components/ConversationSourcesPanel/ConversationSourcesPanel.tsx:1-354
apps/chat/src/app/app.tsx:1-582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apps-chat-09
The frontend currently registers only English translations. RTL direction switching exists for four base language codes. This is support infrastructure, not a claim of complete translated Arabic UI. Component demos in this bundle use English and clearly identified synthetic data.
Sources:
apps/chat/src/context/ThemeContext.tsx:1-171
apps/chat/src/i18n/config.ts:1-32
apps/chat/src/hooks/breakpoint/useBreakpoint.ts:1-89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apps-chat-10
The complete checked example imports both components and stylesheets. afterContent renders between the message body and actions. Replace the empty demo stages with the host message stages; no backend code change is required to use the slot.
Sources:
libs/conversation-messages/src/models/message-bubble.ts:1-177
apps/chat/src/components/ConversationView/ConversationMessageItem.tsx:1-898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apps-chat-15
This is a real browser screenshot of the standalone demo in demo/main.tsx, captured by src/capture-demo.mjs. It renders SettingsPanel, UsageLimitCard and StagesPanel directly from the recorded source snapshot with local stylesheet dependencies. It is an illustrative host, not a screenshot of a deployed DIAL product. All data is synthetic and no backend request is made. Run the Vite command in examples/README.md, then the capture script. Expected behavior: Usage starts selected; selecting Profile updates the controlled active row. The amount and stage remain demo data. The host explicitly supplies dark-theme color overrides. Desktop and phone captures are retained under assets/.
Sources:
libs/settings-panel/src/components/SettingsPanel/SettingsPanel.tsx:1-170
libs/usage-dashboard/src/components/UsageLimitCard/UsageLimitCard.tsx:1-191
libs/conversation-stages/src/components/StagesPanel/StagesPanel.tsx:1-229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apps-chat-11
Nx resolves the application name as @epam/chat. npm start uses the supported chat alias. These commands are provided for the reader; no source build or application dependency installation was performed for this documentation task. Vite configuration and the graph, rather than an old README project count, determine the targets.
Sources:
package.json:1-199
apps/chat/vite.config.mts:1-267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apps-chat-12
Tests are inspected evidence, not newly executed application suite results. For a future code change, select the relevant Nx test target or npm run test:file. Presentation example modules were checked independently with strict TypeScript against the same source exports.
Sources:
apps/chat/src/pages/ConversationRoute/ConversationRoute.integration.spec.tsx:1-332
apps/chat/src/components/ConversationView/tests/ConversationMessageItem.spec.tsx:1-1491
apps/chat/src/context/overlay/tests/OverlayContext.spec.tsx:1-1443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apps-chat-13
The raw transcription wrapper documents the customContent versus custom_content schema collision. Do not claim every HTTP call is generated. For a smaller host, adopt a component or focused hook entry before copying the entire provider tree.
Sources:
apps/chat/src/main.tsx:1-108
apps/chat/src/server-api/chat.api.ts:1-42
apps/chat-api/README.md:1-1047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apps-chat-14
PromptEditor is a manageable example: the app loads and saves the entity while the library owns the fields. The same tracing method scales to conversations. Consult each library deck for the exact exported prop and callback contract.
Sources:
apps/chat/src/pages/PromptEditor/PromptEditor.tsx:1-282
apps/chat/src/server-api/api-client.ts:1-106
libs/prompt-editor/src/models/prompt-editor-props.ts:1-162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frontend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Chat frontend</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The React application that assembles reusable features into a coherent workspace.</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React SPA</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Application adapters</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Port 4207</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apps/chat · @epam/chat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frontend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The frontend owns the user workflow</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Conversation workspace</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Send messages, resume history and inspect sources.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Knowledge workflows</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Browse and edit prompts, skills, apps and toolsets.</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Operations for users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Inspect usage, manage files and work with scheduled tasks.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frontend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Bootstrap the application once</a:t>
            </a:r>
            <a:endParaRPr lang="en-US" sz="3600" dirty="0"/>
          </a:p>
        </p:txBody>
      </p:sp>
      <p:sp>
        <p:nvSpPr>
          <p:cNvPr id="8" name="Shape 5"/>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9" name="Text 6"/>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0" name="Text 7"/>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main.tsx</a:t>
            </a:r>
            <a:endParaRPr lang="en-US" sz="2100" dirty="0"/>
          </a:p>
        </p:txBody>
      </p:sp>
      <p:sp>
        <p:nvSpPr>
          <p:cNvPr id="11" name="Text 8"/>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React root and imports</a:t>
            </a:r>
            <a:endParaRPr lang="en-US" sz="1700" dirty="0"/>
          </a:p>
        </p:txBody>
      </p:sp>
      <p:sp>
        <p:nvSpPr>
          <p:cNvPr id="12" name="Shape 9"/>
          <p:cNvSpPr/>
          <p:nvPr/>
        </p:nvSpPr>
        <p:spPr>
          <a:xfrm>
            <a:off x="3118104" y="3776472"/>
            <a:ext cx="237744" cy="0"/>
          </a:xfrm>
          <a:prstGeom prst="line">
            <a:avLst/>
          </a:prstGeom>
          <a:noFill/>
          <a:ln w="21590">
            <a:solidFill>
              <a:srgbClr val="8EBCFF"/>
            </a:solidFill>
            <a:prstDash val="solid"/>
            <a:headEnd type="none"/>
            <a:tailEnd type="triangle"/>
          </a:ln>
        </p:spPr>
      </p:sp>
      <p:sp>
        <p:nvSpPr>
          <p:cNvPr id="13" name="Shape 10"/>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4" name="Text 11"/>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5" name="Text 12"/>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Browser Router</a:t>
            </a:r>
            <a:endParaRPr lang="en-US" sz="2100" dirty="0"/>
          </a:p>
        </p:txBody>
      </p:sp>
      <p:sp>
        <p:nvSpPr>
          <p:cNvPr id="16" name="Text 13"/>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App-owned routes</a:t>
            </a:r>
            <a:endParaRPr lang="en-US" sz="1700" dirty="0"/>
          </a:p>
        </p:txBody>
      </p:sp>
      <p:sp>
        <p:nvSpPr>
          <p:cNvPr id="17" name="Shape 14"/>
          <p:cNvSpPr/>
          <p:nvPr/>
        </p:nvSpPr>
        <p:spPr>
          <a:xfrm>
            <a:off x="5961888" y="3776472"/>
            <a:ext cx="237744" cy="0"/>
          </a:xfrm>
          <a:prstGeom prst="line">
            <a:avLst/>
          </a:prstGeom>
          <a:noFill/>
          <a:ln w="21590">
            <a:solidFill>
              <a:srgbClr val="8EBCFF"/>
            </a:solidFill>
            <a:prstDash val="solid"/>
            <a:headEnd type="none"/>
            <a:tailEnd type="triangle"/>
          </a:ln>
        </p:spPr>
      </p:sp>
      <p:sp>
        <p:nvSpPr>
          <p:cNvPr id="18" name="Shape 15"/>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19" name="Text 16"/>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0" name="Text 17"/>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Providers</a:t>
            </a:r>
            <a:endParaRPr lang="en-US" sz="2100" dirty="0"/>
          </a:p>
        </p:txBody>
      </p:sp>
      <p:sp>
        <p:nvSpPr>
          <p:cNvPr id="21" name="Text 18"/>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User, theme and config</a:t>
            </a:r>
            <a:endParaRPr lang="en-US" sz="1700" dirty="0"/>
          </a:p>
        </p:txBody>
      </p:sp>
      <p:sp>
        <p:nvSpPr>
          <p:cNvPr id="22" name="Shape 19"/>
          <p:cNvSpPr/>
          <p:nvPr/>
        </p:nvSpPr>
        <p:spPr>
          <a:xfrm>
            <a:off x="8805672" y="3776472"/>
            <a:ext cx="237744" cy="0"/>
          </a:xfrm>
          <a:prstGeom prst="line">
            <a:avLst/>
          </a:prstGeom>
          <a:noFill/>
          <a:ln w="21590">
            <a:solidFill>
              <a:srgbClr val="8EBCFF"/>
            </a:solidFill>
            <a:prstDash val="solid"/>
            <a:headEnd type="none"/>
            <a:tailEnd type="triangle"/>
          </a:ln>
        </p:spPr>
      </p:sp>
      <p:sp>
        <p:nvSpPr>
          <p:cNvPr id="23" name="Shape 20"/>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4" name="Text 21"/>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5" name="Text 22"/>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App</a:t>
            </a:r>
            <a:endParaRPr lang="en-US" sz="2100" dirty="0"/>
          </a:p>
        </p:txBody>
      </p:sp>
      <p:sp>
        <p:nvSpPr>
          <p:cNvPr id="26" name="Text 23"/>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Feature route composition</a:t>
            </a:r>
            <a:endParaRPr lang="en-US" sz="1700" dirty="0"/>
          </a:p>
        </p:txBody>
      </p:sp>
      <p:sp>
        <p:nvSpPr>
          <p:cNvPr id="27" name="Text 24"/>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AttachmentCanvasProvider sits above the routed workspace.</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frontend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Providers define state ownership</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Identity and configuration</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UserProvider, AppConfigProvider and UiFeaturesProvider.</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Conversation state</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ConversationsProvider, GenerationProvider and ClientChannelProvider.</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Workspace presentation</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Theme, sources-sidebar and attachment-canvas providers.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frontend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Routes connect reusable screens</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Route family</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Host responsibility</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/conversations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Active conversation and history</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/catalog, /files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Discovery and file operations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/prompt-editor, /skill-editor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Load, validate and save authored entities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/scheduled-tasks, /settings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Scheduling and usage/settings views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frontend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Trace a message from UI intent</a:t>
            </a:r>
            <a:endParaRPr lang="en-US" sz="3600" dirty="0"/>
          </a:p>
        </p:txBody>
      </p:sp>
      <p:sp>
        <p:nvSpPr>
          <p:cNvPr id="8" name="Shape 5"/>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9" name="Text 6"/>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0" name="Text 7"/>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Composer</a:t>
            </a:r>
            <a:endParaRPr lang="en-US" sz="2100" dirty="0"/>
          </a:p>
        </p:txBody>
      </p:sp>
      <p:sp>
        <p:nvSpPr>
          <p:cNvPr id="11" name="Text 8"/>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Message and attachments</a:t>
            </a:r>
            <a:endParaRPr lang="en-US" sz="1700" dirty="0"/>
          </a:p>
        </p:txBody>
      </p:sp>
      <p:sp>
        <p:nvSpPr>
          <p:cNvPr id="12" name="Shape 9"/>
          <p:cNvSpPr/>
          <p:nvPr/>
        </p:nvSpPr>
        <p:spPr>
          <a:xfrm>
            <a:off x="3118104" y="3776472"/>
            <a:ext cx="237744" cy="0"/>
          </a:xfrm>
          <a:prstGeom prst="line">
            <a:avLst/>
          </a:prstGeom>
          <a:noFill/>
          <a:ln w="21590">
            <a:solidFill>
              <a:srgbClr val="8EBCFF"/>
            </a:solidFill>
            <a:prstDash val="solid"/>
            <a:headEnd type="none"/>
            <a:tailEnd type="triangle"/>
          </a:ln>
        </p:spPr>
      </p:sp>
      <p:sp>
        <p:nvSpPr>
          <p:cNvPr id="13" name="Shape 10"/>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4" name="Text 11"/>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5" name="Text 12"/>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Conversation Page</a:t>
            </a:r>
            <a:endParaRPr lang="en-US" sz="2100" dirty="0"/>
          </a:p>
        </p:txBody>
      </p:sp>
      <p:sp>
        <p:nvSpPr>
          <p:cNvPr id="16" name="Text 13"/>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Host handlers</a:t>
            </a:r>
            <a:endParaRPr lang="en-US" sz="1700" dirty="0"/>
          </a:p>
        </p:txBody>
      </p:sp>
      <p:sp>
        <p:nvSpPr>
          <p:cNvPr id="17" name="Shape 14"/>
          <p:cNvSpPr/>
          <p:nvPr/>
        </p:nvSpPr>
        <p:spPr>
          <a:xfrm>
            <a:off x="5961888" y="3776472"/>
            <a:ext cx="237744" cy="0"/>
          </a:xfrm>
          <a:prstGeom prst="line">
            <a:avLst/>
          </a:prstGeom>
          <a:noFill/>
          <a:ln w="21590">
            <a:solidFill>
              <a:srgbClr val="8EBCFF"/>
            </a:solidFill>
            <a:prstDash val="solid"/>
            <a:headEnd type="none"/>
            <a:tailEnd type="triangle"/>
          </a:ln>
        </p:spPr>
      </p:sp>
      <p:sp>
        <p:nvSpPr>
          <p:cNvPr id="18" name="Shape 15"/>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19" name="Text 16"/>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0" name="Text 17"/>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Stream hook</a:t>
            </a:r>
            <a:endParaRPr lang="en-US" sz="2100" dirty="0"/>
          </a:p>
        </p:txBody>
      </p:sp>
      <p:sp>
        <p:nvSpPr>
          <p:cNvPr id="21" name="Text 18"/>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State and updates</a:t>
            </a:r>
            <a:endParaRPr lang="en-US" sz="1700" dirty="0"/>
          </a:p>
        </p:txBody>
      </p:sp>
      <p:sp>
        <p:nvSpPr>
          <p:cNvPr id="22" name="Shape 19"/>
          <p:cNvSpPr/>
          <p:nvPr/>
        </p:nvSpPr>
        <p:spPr>
          <a:xfrm>
            <a:off x="8805672" y="3776472"/>
            <a:ext cx="237744" cy="0"/>
          </a:xfrm>
          <a:prstGeom prst="line">
            <a:avLst/>
          </a:prstGeom>
          <a:noFill/>
          <a:ln w="21590">
            <a:solidFill>
              <a:srgbClr val="8EBCFF"/>
            </a:solidFill>
            <a:prstDash val="solid"/>
            <a:headEnd type="none"/>
            <a:tailEnd type="triangle"/>
          </a:ln>
        </p:spPr>
      </p:sp>
      <p:sp>
        <p:nvSpPr>
          <p:cNvPr id="23" name="Shape 20"/>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4" name="Text 21"/>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5" name="Text 22"/>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chat-stream adapter</a:t>
            </a:r>
            <a:endParaRPr lang="en-US" sz="2100" dirty="0"/>
          </a:p>
        </p:txBody>
      </p:sp>
      <p:sp>
        <p:nvSpPr>
          <p:cNvPr id="26" name="Text 23"/>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Transport dependencies</a:t>
            </a:r>
            <a:endParaRPr lang="en-US" sz="1700" dirty="0"/>
          </a:p>
        </p:txBody>
      </p:sp>
      <p:sp>
        <p:nvSpPr>
          <p:cNvPr id="27" name="Text 24"/>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The backend owns persistent conversation writes.</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frontend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Configure the generated client at the edge</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Source excerpt · createApiConfiguration in server-api/api-client.ts.</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new Configuration({</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basePath: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credentials: 'include',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middleware: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csrfMiddleware,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unauthorizedMiddleware,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telemetryMiddleware,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frontend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Assemble evidence around each message</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Transcript</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app message container composes bubbles and stages.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Sources</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app sources container adapts evidence data and open actions.</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Canvas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app resolves files and passes renderer dependencies.</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frontend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apps-chat-09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Theme, locale and viewport are host concerns</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ThemeProvider</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Loads theme configuration and writes CSS variables.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i18n initialization</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Registers English and updates html direction on language changes.</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Responsive branches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App hooks provide mobile/desktop decisions to feature surfaces.</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frontend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apps-chat-10</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10</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concrete extension: message content slots</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Runnable composition pattern from examples/conversation-messages.tsx.</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&lt;AssistantMessageBubble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text="**Demo:** evidence collected."</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isStreaming={false}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deploymentDisplayName="Demo assistant"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afterContent={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&lt;StagesPanel stages={[]} isStreaming={false} /&gt;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/&gt;</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frontend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apps-chat-15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11</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Inspect the reusable pieces in isolation</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Reproducible demo · actual workspace source components</a:t>
            </a:r>
            <a:endParaRPr lang="en-US" sz="1700" dirty="0"/>
          </a:p>
        </p:txBody>
      </p:sp>
      <p:pic>
        <p:nvPicPr>
          <p:cNvPr id="9" name="Image 1" descr="assets/component-demo.png">    </p:cNvPr>
          <p:cNvPicPr>
            <a:picLocks noChangeAspect="1"/>
          </p:cNvPicPr>
          <p:nvPr/>
        </p:nvPicPr>
        <p:blipFill>
          <a:blip r:embed="rId2"/>
          <a:stretch>
            <a:fillRect/>
          </a:stretch>
        </p:blipFill>
        <p:spPr>
          <a:xfrm>
            <a:off x="594360" y="2432304"/>
            <a:ext cx="7360920" cy="3630168"/>
          </a:xfrm>
          <a:prstGeom prst="rect">
            <a:avLst/>
          </a:prstGeom>
        </p:spPr>
      </p:pic>
      <p:sp>
        <p:nvSpPr>
          <p:cNvPr id="10" name="Shape 6"/>
          <p:cNvSpPr/>
          <p:nvPr/>
        </p:nvSpPr>
        <p:spPr>
          <a:xfrm>
            <a:off x="8229600" y="2432304"/>
            <a:ext cx="3364992" cy="3630168"/>
          </a:xfrm>
          <a:prstGeom prst="roundRect">
            <a:avLst>
              <a:gd name="adj" fmla="val 3261"/>
            </a:avLst>
          </a:prstGeom>
          <a:solidFill>
            <a:srgbClr val="17202C"/>
          </a:solidFill>
          <a:ln w="8890">
            <a:solidFill>
              <a:srgbClr val="33455D"/>
            </a:solidFill>
            <a:prstDash val="solid"/>
          </a:ln>
        </p:spPr>
      </p:sp>
      <p:sp>
        <p:nvSpPr>
          <p:cNvPr id="11" name="Text 7"/>
          <p:cNvSpPr/>
          <p:nvPr/>
        </p:nvSpPr>
        <p:spPr>
          <a:xfrm>
            <a:off x="8458200" y="2697480"/>
            <a:ext cx="2834640" cy="731520"/>
          </a:xfrm>
          <a:prstGeom prst="rect">
            <a:avLst/>
          </a:prstGeom>
          <a:noFill/>
          <a:ln/>
        </p:spPr>
        <p:txBody>
          <a:bodyPr wrap="square" lIns="0" tIns="0" rIns="0" bIns="0" rtlCol="0" anchor="t"/>
          <a:lstStyle/>
          <a:p>
            <a:pPr indent="0" marL="0">
              <a:buNone/>
            </a:pPr>
            <a:r>
              <a:rPr lang="en-US" sz="2500" b="1" dirty="0">
                <a:solidFill>
                  <a:srgbClr val="EDF2F7"/>
                </a:solidFill>
                <a:latin typeface="Arial" pitchFamily="34" charset="0"/>
                <a:ea typeface="Arial" pitchFamily="34" charset="-122"/>
                <a:cs typeface="Arial" pitchFamily="34" charset="-120"/>
              </a:rPr>
              <a:t>A focused demo</a:t>
            </a:r>
            <a:endParaRPr lang="en-US" sz="2500" dirty="0"/>
          </a:p>
        </p:txBody>
      </p:sp>
      <p:sp>
        <p:nvSpPr>
          <p:cNvPr id="12" name="Text 8"/>
          <p:cNvSpPr/>
          <p:nvPr/>
        </p:nvSpPr>
        <p:spPr>
          <a:xfrm>
            <a:off x="8458200" y="3611880"/>
            <a:ext cx="2834640" cy="2075688"/>
          </a:xfrm>
          <a:prstGeom prst="rect">
            <a:avLst/>
          </a:prstGeom>
          <a:noFill/>
          <a:ln/>
        </p:spPr>
        <p:txBody>
          <a:bodyPr wrap="square" lIns="0" tIns="0" rIns="0" bIns="0" rtlCol="0" anchor="t"/>
          <a:lstStyle/>
          <a:p>
            <a:pPr indent="0" marL="0">
              <a:buNone/>
            </a:pPr>
            <a:r>
              <a:rPr lang="en-US" sz="2100" dirty="0">
                <a:solidFill>
                  <a:srgbClr val="EDF2F7"/>
                </a:solidFill>
                <a:latin typeface="Arial" pitchFamily="34" charset="0"/>
                <a:ea typeface="Arial" pitchFamily="34" charset="-122"/>
                <a:cs typeface="Arial" pitchFamily="34" charset="-120"/>
              </a:rPr>
              <a:t>Use a small host to inspect component contracts before wiring application state and backend behavior.</a:t>
            </a:r>
            <a:endParaRPr lang="en-US" sz="2100" dirty="0"/>
          </a:p>
        </p:txBody>
      </p:sp>
      <p:sp>
        <p:nvSpPr>
          <p:cNvPr id="13" name="Text 9"/>
          <p:cNvSpPr/>
          <p:nvPr/>
        </p:nvSpPr>
        <p:spPr>
          <a:xfrm>
            <a:off x="621792" y="6126480"/>
            <a:ext cx="10332720" cy="173736"/>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DEMO · real components rendered from this source snapshot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frontend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apps-chat-11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Run and build the frontend</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Commands run from the repository root.</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npm start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Vite: http://localhost:4207</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/api is proxied to http://localhost:5000</a:t>
            </a:r>
            <a:endParaRPr lang="en-US" sz="1800" dirty="0"/>
          </a:p>
          <a:p>
            <a:pPr indent="0" marL="0">
              <a:lnSpc>
                <a:spcPct val="104000"/>
              </a:lnSpc>
              <a:buNone/>
            </a:pP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npm exec nx run @epam/chat:build</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npm exec nx run @epam/chat:typecheck</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npm exec nx run @epam/chat:test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frontend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apps-chat-12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Inspect behavior through existing tests</a:t>
            </a:r>
            <a:endParaRPr lang="en-US" sz="3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Test area</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Conversation route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ConversationRoute integration and unit specs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Message composition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ConversationMessageItem specs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Provider behavior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OverlayContext and app-level context specs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API adapters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server-api tests for transport integration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frontend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apps-chat-13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Integration limits are part of the design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Providers are coupled</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full app composition has many coordinated state owners.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Backend required</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A running UI alone cannot authenticate or complete conversations.</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Some adapter gaps remain</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Audio transcription retains a documented raw DTO wrapper.</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APPLICATION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frontend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apps-chat-14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Follow one feature end to end</a:t>
            </a:r>
            <a:endParaRPr lang="en-US" sz="3600" dirty="0"/>
          </a:p>
        </p:txBody>
      </p:sp>
      <p:sp>
        <p:nvSpPr>
          <p:cNvPr id="8" name="Shape 5"/>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9" name="Text 6"/>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0" name="Text 7"/>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Route</a:t>
            </a:r>
            <a:endParaRPr lang="en-US" sz="2100" dirty="0"/>
          </a:p>
        </p:txBody>
      </p:sp>
      <p:sp>
        <p:nvSpPr>
          <p:cNvPr id="11" name="Text 8"/>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Choose a user workflow</a:t>
            </a:r>
            <a:endParaRPr lang="en-US" sz="1700" dirty="0"/>
          </a:p>
        </p:txBody>
      </p:sp>
      <p:sp>
        <p:nvSpPr>
          <p:cNvPr id="12" name="Shape 9"/>
          <p:cNvSpPr/>
          <p:nvPr/>
        </p:nvSpPr>
        <p:spPr>
          <a:xfrm>
            <a:off x="3118104" y="3776472"/>
            <a:ext cx="237744" cy="0"/>
          </a:xfrm>
          <a:prstGeom prst="line">
            <a:avLst/>
          </a:prstGeom>
          <a:noFill/>
          <a:ln w="21590">
            <a:solidFill>
              <a:srgbClr val="8EBCFF"/>
            </a:solidFill>
            <a:prstDash val="solid"/>
            <a:headEnd type="none"/>
            <a:tailEnd type="triangle"/>
          </a:ln>
        </p:spPr>
      </p:sp>
      <p:sp>
        <p:nvSpPr>
          <p:cNvPr id="13" name="Shape 10"/>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4" name="Text 11"/>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5" name="Text 12"/>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Container</a:t>
            </a:r>
            <a:endParaRPr lang="en-US" sz="2100" dirty="0"/>
          </a:p>
        </p:txBody>
      </p:sp>
      <p:sp>
        <p:nvSpPr>
          <p:cNvPr id="16" name="Text 13"/>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Resolve context and data</a:t>
            </a:r>
            <a:endParaRPr lang="en-US" sz="1700" dirty="0"/>
          </a:p>
        </p:txBody>
      </p:sp>
      <p:sp>
        <p:nvSpPr>
          <p:cNvPr id="17" name="Shape 14"/>
          <p:cNvSpPr/>
          <p:nvPr/>
        </p:nvSpPr>
        <p:spPr>
          <a:xfrm>
            <a:off x="5961888" y="3776472"/>
            <a:ext cx="237744" cy="0"/>
          </a:xfrm>
          <a:prstGeom prst="line">
            <a:avLst/>
          </a:prstGeom>
          <a:noFill/>
          <a:ln w="21590">
            <a:solidFill>
              <a:srgbClr val="8EBCFF"/>
            </a:solidFill>
            <a:prstDash val="solid"/>
            <a:headEnd type="none"/>
            <a:tailEnd type="triangle"/>
          </a:ln>
        </p:spPr>
      </p:sp>
      <p:sp>
        <p:nvSpPr>
          <p:cNvPr id="18" name="Shape 15"/>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19" name="Text 16"/>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0" name="Text 17"/>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Library contract</a:t>
            </a:r>
            <a:endParaRPr lang="en-US" sz="2100" dirty="0"/>
          </a:p>
        </p:txBody>
      </p:sp>
      <p:sp>
        <p:nvSpPr>
          <p:cNvPr id="21" name="Text 18"/>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Render and emit intent</a:t>
            </a:r>
            <a:endParaRPr lang="en-US" sz="1700" dirty="0"/>
          </a:p>
        </p:txBody>
      </p:sp>
      <p:sp>
        <p:nvSpPr>
          <p:cNvPr id="22" name="Shape 19"/>
          <p:cNvSpPr/>
          <p:nvPr/>
        </p:nvSpPr>
        <p:spPr>
          <a:xfrm>
            <a:off x="8805672" y="3776472"/>
            <a:ext cx="237744" cy="0"/>
          </a:xfrm>
          <a:prstGeom prst="line">
            <a:avLst/>
          </a:prstGeom>
          <a:noFill/>
          <a:ln w="21590">
            <a:solidFill>
              <a:srgbClr val="8EBCFF"/>
            </a:solidFill>
            <a:prstDash val="solid"/>
            <a:headEnd type="none"/>
            <a:tailEnd type="triangle"/>
          </a:ln>
        </p:spPr>
      </p:sp>
      <p:sp>
        <p:nvSpPr>
          <p:cNvPr id="23" name="Shape 20"/>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4" name="Text 21"/>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5" name="Text 22"/>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Server adapter</a:t>
            </a:r>
            <a:endParaRPr lang="en-US" sz="2100" dirty="0"/>
          </a:p>
        </p:txBody>
      </p:sp>
      <p:sp>
        <p:nvSpPr>
          <p:cNvPr id="26" name="Text 23"/>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Perform the operation</a:t>
            </a:r>
            <a:endParaRPr lang="en-US" sz="1700" dirty="0"/>
          </a:p>
        </p:txBody>
      </p:sp>
      <p:sp>
        <p:nvSpPr>
          <p:cNvPr id="27" name="Text 24"/>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Start in apps/chat/src/pages, then follow imports into libs and server-api.</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 frontend</dc:title>
  <dc:subject>The React application that assembles reusable features into a coherent workspace.</dc:subject>
  <dc:creator>AI DIAL technical knowledge sharing</dc:creator>
  <cp:lastModifiedBy>AI DIAL technical knowledge sharing</cp:lastModifiedBy>
  <cp:revision>1</cp:revision>
  <dcterms:created xsi:type="dcterms:W3CDTF">2026-09-21T18:54:10Z</dcterms:created>
  <dcterms:modified xsi:type="dcterms:W3CDTF">2026-09-21T18:54:10Z</dcterms:modified>
</cp:coreProperties>
</file>