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lib-scheduled-tasks-01
This session explains render task lists, forms and run history from host-owned schedules. The library is a local private workspace package at libs/scheduled-tasks. Its manifest, source exports, tests and actual consumers were inspected. Package publication has not been verified; use the workspace integration shown here.
Sources:
libs/scheduled-tasks/README.md:1-215
libs/scheduled-tasks/src/index.ts:1-68
libs/scheduled-tasks/package.json:1-42
libs/scheduled-tasks/src/components/ScheduledTasks/ScheduledTasks.tsx:77-350 — ScheduledTasks
libs/scheduled-tasks/src/models/scheduled-tasks-props.ts:75-110 — ScheduledTasksProps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lib-scheduled-tasks-02
Start with a concrete caller need. Browse automation: Search and sort scheduled task cards. Create or edit: Collect schedule form values and validation errors. Inspect execution: Display a task summary and past run statuses. These scenarios describe integration supported by the current public surface; they do not assert measured performance or production certification.
Sources:
libs/scheduled-tasks/README.md:1-215
libs/scheduled-tasks/src/index.ts:1-68
libs/scheduled-tasks/package.json:1-42
libs/scheduled-tasks/src/components/ScheduledTasks/ScheduledTasks.tsx:77-350 — ScheduledTasks
libs/scheduled-tasks/src/models/scheduled-tasks-props.ts:75-110 — ScheduledTasksProps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lib-scheduled-tasks-03
The library owns List/form/detail UI and user interactions. The host owns Scheduling APIs, formatted dates, timezone decisions, sorting/filtering and validation.  The arrows show data/callback direction, not an implicit network request. The documented isolation rules and known implementation deviations are listed in qa-report.md.
Sources:
libs/scheduled-tasks/README.md:1-215
libs/scheduled-tasks/src/index.ts:1-68
libs/scheduled-tasks/package.json:1-42
libs/scheduled-tasks/src/components/ScheduledTasks/ScheduledTasks.tsx:77-350 — ScheduledTasks
libs/scheduled-tasks/src/models/scheduled-tasks-props.ts:75-110 — ScheduledTasksProps
AGENTS.md:1-176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lib-scheduled-tasks-04
These are selected public symbols or props, not a complete API listing. Required versus optional props come from the TypeScript checker over the current source. All declarations, including the source file and line range, are retained in content/api-index.md and the per-project research JSON. 
Sources:
libs/scheduled-tasks/README.md:1-215
libs/scheduled-tasks/src/index.ts:1-68
libs/scheduled-tasks/package.json:1-42
libs/scheduled-tasks/src/components/ScheduledTasks/ScheduledTasks.tsx:77-350 — ScheduledTasks
libs/scheduled-tasks/src/models/scheduled-tasks-props.ts:75-110 — ScheduledTasksProps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lib-scheduled-tasks-05
Run this example in the existing React 19 workspace using the package source aliases and its declared peers. For browser-only modules use a browser host. Full imports, types and required props are in examples/scheduled-tasks.tsx. The stylesheet import must be loaded by the host. Host parameters in the complete example are typed integration requirements, not hidden globals. Expected behavior: Search and sort scheduled task cards. Backend-dependent examples require a running configured service; the bundle type-checks them but does not call production services.
Sources:
libs/scheduled-tasks/README.md:1-215
libs/scheduled-tasks/src/index.ts:1-68
libs/scheduled-tasks/package.json:1-42
libs/scheduled-tasks/src/components/ScheduledTasks/ScheduledTasks.tsx:77-350 — ScheduledTasks
libs/scheduled-tasks/src/models/scheduled-tasks-props.ts:75-110 — ScheduledTasksProps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lib-scheduled-tasks-06
Follow this concrete integration sequence. Load task records: The host supplies task items, labels and action callbacks. Control the view: Manage the search query and sort key in the host. Handle a task action: Use the host adapter to create or update task data. The complete typed module in examples/scheduled-tasks.tsx shows the required imports and host inputs. Application-owned network, routing and persistence behavior must be supplied by the caller.
Sources:
libs/scheduled-tasks/README.md:1-215
libs/scheduled-tasks/src/index.ts:1-68
libs/scheduled-tasks/package.json:1-42
libs/scheduled-tasks/src/components/ScheduledTasks/ScheduledTasks.tsx:77-350 — ScheduledTasks
libs/scheduled-tasks/src/models/scheduled-tasks-props.ts:75-110 — ScheduledTasksProps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lib-scheduled-tasks-07
Customization comes from the current exports and prop declarations. List pagination: hasMore, isLoadingMore and onLoadMore support incremental loading. Form and detail exports: ScheduledTaskCreateForm and ScheduledTaskDetailView are distinct surfaces. Run status display: ScheduledTaskRunHistoryList renders host-provided run records. For UI, import the package stylesheet and use documented props or stable public classes. A component-level color override and inherited theme tokens are different levels of control. Locale strings and direction should be supplied by the host; do not introduce app i18n into a reusable library.
Sources:
libs/scheduled-tasks/README.md:1-215
libs/scheduled-tasks/src/index.ts:1-68
libs/scheduled-tasks/package.json:1-42
libs/scheduled-tasks/src/components/ScheduledTasks/ScheduledTasks.tsx:77-350 — ScheduledTasks
libs/scheduled-tasks/src/models/scheduled-tasks-props.ts:75-110 — ScheduledTasksProps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lib-scheduled-tasks-08
Actual consumers: apps/chat/src/pages/ScheduledTaskDetailPage/ScheduledTaskDetailPage.tsx; apps/chat/src/pages/ScheduledTaskEditPage/ScheduledTaskEditPage.tsx; apps/chat/src/hooks/scheduled-tasks/useScheduledTasks.ts; apps/chat/src/pages/ScheduledTasksPage/ScheduledTasksPage.tsx; apps/chat/src/pages/ScheduledTaskCreatePage/ScheduledTaskCreatePage.tsx; apps/chat/src/components/ConversationSourcesPanel/ConversationSourcesPanel.tsx. Existing test evidence: [{"file": "libs/scheduled-tasks/src/components/ScheduledTaskCard/tests/ScheduledTaskCard.spec.tsx", "assertions": ["ScheduledTaskCard", "highlights the matching substring of the title", "renders the schedule pill and location breadcrumb verbatim", "renders no interactive control when onCardClick is omitted", "renders the ", "renders the card with a fixed height", "clamps a long description instead of growing the card", "invokes onCardClick with the item id when the card body is clicked", "invokes onCardClick on Enter/Space keyboard activation", "renders no added interactive semantics when onCardClick is omitted", "renders the ", "renders the schedule pill when isActive is true or omitted", "pins the schedule pill to the bottom of the card regardless of description length", "ScheduledTaskCard \u2014 public class names", "stamps the card whether or not it is clickable"]}, {"file": "libs/scheduled-tasks/src/components/ScheduledTaskDetailsSummary/tests/ScheduledTaskDetailsSummary.spec.tsx", "assertions": ["ScheduledTaskDetailsSummary", "renders the resolved model display name", "renders the raw model id when no display name is resolved but one is supplied as the value", "hides the model field entirely when modelDisplayName is omitted", "renders instructions markdown via the injected renderInstructions callback", "falls back to MDMessageViewer when renderInstructions is not supplied", "renders no edit affordance"]}]. Reproduce project checks from the repository root with npm exec nx run @epam/ai-dial-scheduled-tasks:typecheck and the available test/lint targets. This documentation task does not rebuild or modify the application repository. The bundle checks its own examples separately.
Sources:
libs/scheduled-tasks/README.md:1-215
libs/scheduled-tasks/src/index.ts:1-68
libs/scheduled-tasks/package.json:1-42
libs/scheduled-tasks/src/components/ScheduledTasks/ScheduledTasks.tsx:77-350 — ScheduledTasks
libs/scheduled-tasks/src/models/scheduled-tasks-props.ts:75-110 — ScheduledTasksProps
apps/chat/src/pages/ScheduledTaskDetailPage/ScheduledTaskDetailPage.tsx:1-413
libs/scheduled-tasks/src/components/ScheduledTaskCard/tests/ScheduledTaskCard.spec.tsx:1-201
libs/scheduled-tasks/src/components/ScheduledTaskDetailsSummary/tests/ScheduledTaskDetailsSummary.spec.tsx:1-89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lib-scheduled-tasks-09
Review these constraints before choosing the library. No task scheduler: Rendering a schedule does not execute work in the background. Formatting stays outside: Pass already-formatted labels and timestamps. Filter intentionally: The controlled search/sort contract requires host updates. The package is private in this snapshot. The presence of build/publish tooling is not evidence that a compatible release is available from a registry. For externally packed installations, inspect the repository publish tooling and host-install matrix and verify the resulting artifact separately.
Sources:
libs/scheduled-tasks/README.md:1-215
libs/scheduled-tasks/src/index.ts:1-68
libs/scheduled-tasks/package.json:1-42
libs/scheduled-tasks/src/components/ScheduledTasks/ScheduledTasks.tsx:77-350 — ScheduledTasks
libs/scheduled-tasks/src/models/scheduled-tasks-props.ts:75-110 — ScheduledTasksProps
AGENTS.md:1-176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LIBRARY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Scheduled tasks</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lib-scheduled-tasks-01</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01</a:t>
            </a:r>
            <a:endParaRPr lang="en-US" sz="1200" dirty="0"/>
          </a:p>
        </p:txBody>
      </p:sp>
      <p:sp>
        <p:nvSpPr>
          <p:cNvPr id="7" name="Text 4"/>
          <p:cNvSpPr/>
          <p:nvPr/>
        </p:nvSpPr>
        <p:spPr>
          <a:xfrm>
            <a:off x="594360" y="1508760"/>
            <a:ext cx="10698480" cy="1371600"/>
          </a:xfrm>
          <a:prstGeom prst="rect">
            <a:avLst/>
          </a:prstGeom>
          <a:noFill/>
          <a:ln/>
        </p:spPr>
        <p:txBody>
          <a:bodyPr wrap="square" lIns="0" tIns="0" rIns="0" bIns="0" rtlCol="0" anchor="t"/>
          <a:lstStyle/>
          <a:p>
            <a:pPr indent="0" marL="0">
              <a:buNone/>
            </a:pPr>
            <a:r>
              <a:rPr lang="en-US" sz="4800" b="1" dirty="0">
                <a:solidFill>
                  <a:srgbClr val="EDF2F7"/>
                </a:solidFill>
                <a:latin typeface="Arial" pitchFamily="34" charset="0"/>
                <a:ea typeface="Arial" pitchFamily="34" charset="-122"/>
                <a:cs typeface="Arial" pitchFamily="34" charset="-120"/>
              </a:rPr>
              <a:t>Scheduled tasks</a:t>
            </a:r>
            <a:endParaRPr lang="en-US" sz="4800" dirty="0"/>
          </a:p>
        </p:txBody>
      </p:sp>
      <p:sp>
        <p:nvSpPr>
          <p:cNvPr id="8" name="Text 5"/>
          <p:cNvSpPr/>
          <p:nvPr/>
        </p:nvSpPr>
        <p:spPr>
          <a:xfrm>
            <a:off x="621792" y="3145536"/>
            <a:ext cx="10332720" cy="1051560"/>
          </a:xfrm>
          <a:prstGeom prst="rect">
            <a:avLst/>
          </a:prstGeom>
          <a:noFill/>
          <a:ln/>
        </p:spPr>
        <p:txBody>
          <a:bodyPr wrap="square" lIns="0" tIns="0" rIns="0" bIns="0" rtlCol="0" anchor="t"/>
          <a:lstStyle/>
          <a:p>
            <a:pPr indent="0" marL="0">
              <a:buNone/>
            </a:pPr>
            <a:r>
              <a:rPr lang="en-US" sz="2800" dirty="0">
                <a:solidFill>
                  <a:srgbClr val="8EBCFF"/>
                </a:solidFill>
                <a:latin typeface="Arial" pitchFamily="34" charset="0"/>
                <a:ea typeface="Arial" pitchFamily="34" charset="-122"/>
                <a:cs typeface="Arial" pitchFamily="34" charset="-120"/>
              </a:rPr>
              <a:t>Render task lists, forms and run history from host-owned schedules.</a:t>
            </a:r>
            <a:endParaRPr lang="en-US" sz="2800" dirty="0"/>
          </a:p>
        </p:txBody>
      </p:sp>
      <p:sp>
        <p:nvSpPr>
          <p:cNvPr id="9" name="Shape 6"/>
          <p:cNvSpPr/>
          <p:nvPr/>
        </p:nvSpPr>
        <p:spPr>
          <a:xfrm>
            <a:off x="621792" y="4754880"/>
            <a:ext cx="3474720" cy="640080"/>
          </a:xfrm>
          <a:prstGeom prst="roundRect">
            <a:avLst>
              <a:gd name="adj" fmla="val 17143"/>
            </a:avLst>
          </a:prstGeom>
          <a:solidFill>
            <a:srgbClr val="17202C"/>
          </a:solidFill>
          <a:ln w="8890">
            <a:solidFill>
              <a:srgbClr val="33455D"/>
            </a:solidFill>
            <a:prstDash val="solid"/>
          </a:ln>
        </p:spPr>
      </p:sp>
      <p:sp>
        <p:nvSpPr>
          <p:cNvPr id="10" name="Text 7"/>
          <p:cNvSpPr/>
          <p:nvPr/>
        </p:nvSpPr>
        <p:spPr>
          <a:xfrm>
            <a:off x="822960" y="4956048"/>
            <a:ext cx="3063240" cy="219456"/>
          </a:xfrm>
          <a:prstGeom prst="rect">
            <a:avLst/>
          </a:prstGeom>
          <a:noFill/>
          <a:ln/>
        </p:spPr>
        <p:txBody>
          <a:bodyPr wrap="square" lIns="0" tIns="0" rIns="0" bIns="0" rtlCol="0" anchor="t"/>
          <a:lstStyle/>
          <a:p>
            <a:pPr indent="0" marL="0">
              <a:buNone/>
            </a:pPr>
            <a:r>
              <a:rPr lang="en-US" sz="1600" dirty="0">
                <a:solidFill>
                  <a:srgbClr val="EDF2F7"/>
                </a:solidFill>
                <a:latin typeface="Arial" pitchFamily="34" charset="0"/>
                <a:ea typeface="Arial" pitchFamily="34" charset="-122"/>
                <a:cs typeface="Arial" pitchFamily="34" charset="-120"/>
              </a:rPr>
              <a:t>Problem and boundary</a:t>
            </a:r>
            <a:endParaRPr lang="en-US" sz="1600" dirty="0"/>
          </a:p>
        </p:txBody>
      </p:sp>
      <p:sp>
        <p:nvSpPr>
          <p:cNvPr id="11" name="Shape 8"/>
          <p:cNvSpPr/>
          <p:nvPr/>
        </p:nvSpPr>
        <p:spPr>
          <a:xfrm>
            <a:off x="4370832" y="4754880"/>
            <a:ext cx="3474720" cy="640080"/>
          </a:xfrm>
          <a:prstGeom prst="roundRect">
            <a:avLst>
              <a:gd name="adj" fmla="val 17143"/>
            </a:avLst>
          </a:prstGeom>
          <a:solidFill>
            <a:srgbClr val="17202C"/>
          </a:solidFill>
          <a:ln w="8890">
            <a:solidFill>
              <a:srgbClr val="33455D"/>
            </a:solidFill>
            <a:prstDash val="solid"/>
          </a:ln>
        </p:spPr>
      </p:sp>
      <p:sp>
        <p:nvSpPr>
          <p:cNvPr id="12" name="Text 9"/>
          <p:cNvSpPr/>
          <p:nvPr/>
        </p:nvSpPr>
        <p:spPr>
          <a:xfrm>
            <a:off x="4572000" y="4956048"/>
            <a:ext cx="3063240" cy="219456"/>
          </a:xfrm>
          <a:prstGeom prst="rect">
            <a:avLst/>
          </a:prstGeom>
          <a:noFill/>
          <a:ln/>
        </p:spPr>
        <p:txBody>
          <a:bodyPr wrap="square" lIns="0" tIns="0" rIns="0" bIns="0" rtlCol="0" anchor="t"/>
          <a:lstStyle/>
          <a:p>
            <a:pPr indent="0" marL="0">
              <a:buNone/>
            </a:pPr>
            <a:r>
              <a:rPr lang="en-US" sz="1600" dirty="0">
                <a:solidFill>
                  <a:srgbClr val="EDF2F7"/>
                </a:solidFill>
                <a:latin typeface="Arial" pitchFamily="34" charset="0"/>
                <a:ea typeface="Arial" pitchFamily="34" charset="-122"/>
                <a:cs typeface="Arial" pitchFamily="34" charset="-120"/>
              </a:rPr>
              <a:t>Public contract</a:t>
            </a:r>
            <a:endParaRPr lang="en-US" sz="1600" dirty="0"/>
          </a:p>
        </p:txBody>
      </p:sp>
      <p:sp>
        <p:nvSpPr>
          <p:cNvPr id="13" name="Shape 10"/>
          <p:cNvSpPr/>
          <p:nvPr/>
        </p:nvSpPr>
        <p:spPr>
          <a:xfrm>
            <a:off x="8119872" y="4754880"/>
            <a:ext cx="3474720" cy="640080"/>
          </a:xfrm>
          <a:prstGeom prst="roundRect">
            <a:avLst>
              <a:gd name="adj" fmla="val 17143"/>
            </a:avLst>
          </a:prstGeom>
          <a:solidFill>
            <a:srgbClr val="17202C"/>
          </a:solidFill>
          <a:ln w="8890">
            <a:solidFill>
              <a:srgbClr val="33455D"/>
            </a:solidFill>
            <a:prstDash val="solid"/>
          </a:ln>
        </p:spPr>
      </p:sp>
      <p:sp>
        <p:nvSpPr>
          <p:cNvPr id="14" name="Text 11"/>
          <p:cNvSpPr/>
          <p:nvPr/>
        </p:nvSpPr>
        <p:spPr>
          <a:xfrm>
            <a:off x="8321040" y="4956048"/>
            <a:ext cx="3063240" cy="219456"/>
          </a:xfrm>
          <a:prstGeom prst="rect">
            <a:avLst/>
          </a:prstGeom>
          <a:noFill/>
          <a:ln/>
        </p:spPr>
        <p:txBody>
          <a:bodyPr wrap="square" lIns="0" tIns="0" rIns="0" bIns="0" rtlCol="0" anchor="t"/>
          <a:lstStyle/>
          <a:p>
            <a:pPr indent="0" marL="0">
              <a:buNone/>
            </a:pPr>
            <a:r>
              <a:rPr lang="en-US" sz="1600" dirty="0">
                <a:solidFill>
                  <a:srgbClr val="EDF2F7"/>
                </a:solidFill>
                <a:latin typeface="Arial" pitchFamily="34" charset="0"/>
                <a:ea typeface="Arial" pitchFamily="34" charset="-122"/>
                <a:cs typeface="Arial" pitchFamily="34" charset="-120"/>
              </a:rPr>
              <a:t>Working integration</a:t>
            </a:r>
            <a:endParaRPr lang="en-US" sz="1600" dirty="0"/>
          </a:p>
        </p:txBody>
      </p:sp>
      <p:sp>
        <p:nvSpPr>
          <p:cNvPr id="15" name="Text 12"/>
          <p:cNvSpPr/>
          <p:nvPr/>
        </p:nvSpPr>
        <p:spPr>
          <a:xfrm>
            <a:off x="621792" y="5687568"/>
            <a:ext cx="10607040" cy="292608"/>
          </a:xfrm>
          <a:prstGeom prst="rect">
            <a:avLst/>
          </a:prstGeom>
          <a:noFill/>
          <a:ln/>
        </p:spPr>
        <p:txBody>
          <a:bodyPr wrap="square" lIns="0" tIns="0" rIns="0" bIns="0" rtlCol="0" anchor="t"/>
          <a:lstStyle/>
          <a:p>
            <a:pPr indent="0" marL="0">
              <a:buNone/>
            </a:pPr>
            <a:r>
              <a:rPr lang="en-US" sz="1400" dirty="0">
                <a:solidFill>
                  <a:srgbClr val="BCC9DA"/>
                </a:solidFill>
                <a:latin typeface="Arial" pitchFamily="34" charset="0"/>
                <a:ea typeface="Arial" pitchFamily="34" charset="-122"/>
                <a:cs typeface="Arial" pitchFamily="34" charset="-120"/>
              </a:rPr>
              <a:t>@epam/ai-dial-scheduled-tasks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LIBRARY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Scheduled tasks</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lib-scheduled-tasks-02</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02</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When this library is useful</a:t>
            </a:r>
            <a:endParaRPr lang="en-US" sz="3600" dirty="0"/>
          </a:p>
        </p:txBody>
      </p:sp>
      <p:sp>
        <p:nvSpPr>
          <p:cNvPr id="8" name="Text 5"/>
          <p:cNvSpPr/>
          <p:nvPr/>
        </p:nvSpPr>
        <p:spPr>
          <a:xfrm>
            <a:off x="576072" y="1901952"/>
            <a:ext cx="10972800" cy="457200"/>
          </a:xfrm>
          <a:prstGeom prst="rect">
            <a:avLst/>
          </a:prstGeom>
          <a:noFill/>
          <a:ln/>
        </p:spPr>
        <p:txBody>
          <a:bodyPr wrap="square" lIns="0" tIns="0" rIns="0" bIns="0" rtlCol="0" anchor="t"/>
          <a:lstStyle/>
          <a:p>
            <a:pPr indent="0" marL="0">
              <a:buNone/>
            </a:pPr>
            <a:r>
              <a:rPr lang="en-US" sz="1700" dirty="0">
                <a:solidFill>
                  <a:srgbClr val="8EBCFF"/>
                </a:solidFill>
                <a:latin typeface="Arial" pitchFamily="34" charset="0"/>
                <a:ea typeface="Arial" pitchFamily="34" charset="-122"/>
                <a:cs typeface="Arial" pitchFamily="34" charset="-120"/>
              </a:rPr>
              <a:t>Render task lists, forms and run history from host-owned schedules.</a:t>
            </a:r>
            <a:endParaRPr lang="en-US" sz="1700" dirty="0"/>
          </a:p>
        </p:txBody>
      </p:sp>
      <p:sp>
        <p:nvSpPr>
          <p:cNvPr id="9" name="Shape 6"/>
          <p:cNvSpPr/>
          <p:nvPr/>
        </p:nvSpPr>
        <p:spPr>
          <a:xfrm>
            <a:off x="548640" y="2560320"/>
            <a:ext cx="3480816" cy="3383280"/>
          </a:xfrm>
          <a:prstGeom prst="roundRect">
            <a:avLst>
              <a:gd name="adj" fmla="val 3243"/>
            </a:avLst>
          </a:prstGeom>
          <a:solidFill>
            <a:srgbClr val="17202C"/>
          </a:solidFill>
          <a:ln w="8890">
            <a:solidFill>
              <a:srgbClr val="33455D"/>
            </a:solidFill>
            <a:prstDash val="solid"/>
          </a:ln>
        </p:spPr>
      </p:sp>
      <p:sp>
        <p:nvSpPr>
          <p:cNvPr id="10" name="Text 7"/>
          <p:cNvSpPr/>
          <p:nvPr/>
        </p:nvSpPr>
        <p:spPr>
          <a:xfrm>
            <a:off x="777240"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01</a:t>
            </a:r>
            <a:endParaRPr lang="en-US" sz="1500" dirty="0"/>
          </a:p>
        </p:txBody>
      </p:sp>
      <p:sp>
        <p:nvSpPr>
          <p:cNvPr id="11" name="Text 8"/>
          <p:cNvSpPr/>
          <p:nvPr/>
        </p:nvSpPr>
        <p:spPr>
          <a:xfrm>
            <a:off x="777240"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Browse automation</a:t>
            </a:r>
            <a:endParaRPr lang="en-US" sz="2600" dirty="0"/>
          </a:p>
        </p:txBody>
      </p:sp>
      <p:sp>
        <p:nvSpPr>
          <p:cNvPr id="12" name="Text 9"/>
          <p:cNvSpPr/>
          <p:nvPr/>
        </p:nvSpPr>
        <p:spPr>
          <a:xfrm>
            <a:off x="777240"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Search and sort scheduled task cards.</a:t>
            </a:r>
            <a:endParaRPr lang="en-US" sz="2200" dirty="0"/>
          </a:p>
        </p:txBody>
      </p:sp>
      <p:sp>
        <p:nvSpPr>
          <p:cNvPr id="13" name="Shape 10"/>
          <p:cNvSpPr/>
          <p:nvPr/>
        </p:nvSpPr>
        <p:spPr>
          <a:xfrm>
            <a:off x="4340352" y="2560320"/>
            <a:ext cx="3480816" cy="3383280"/>
          </a:xfrm>
          <a:prstGeom prst="roundRect">
            <a:avLst>
              <a:gd name="adj" fmla="val 3243"/>
            </a:avLst>
          </a:prstGeom>
          <a:solidFill>
            <a:srgbClr val="17202C"/>
          </a:solidFill>
          <a:ln w="8890">
            <a:solidFill>
              <a:srgbClr val="33455D"/>
            </a:solidFill>
            <a:prstDash val="solid"/>
          </a:ln>
        </p:spPr>
      </p:sp>
      <p:sp>
        <p:nvSpPr>
          <p:cNvPr id="14" name="Text 11"/>
          <p:cNvSpPr/>
          <p:nvPr/>
        </p:nvSpPr>
        <p:spPr>
          <a:xfrm>
            <a:off x="4568952"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02</a:t>
            </a:r>
            <a:endParaRPr lang="en-US" sz="1500" dirty="0"/>
          </a:p>
        </p:txBody>
      </p:sp>
      <p:sp>
        <p:nvSpPr>
          <p:cNvPr id="15" name="Text 12"/>
          <p:cNvSpPr/>
          <p:nvPr/>
        </p:nvSpPr>
        <p:spPr>
          <a:xfrm>
            <a:off x="4568952"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Create or edit</a:t>
            </a:r>
            <a:endParaRPr lang="en-US" sz="2600" dirty="0"/>
          </a:p>
        </p:txBody>
      </p:sp>
      <p:sp>
        <p:nvSpPr>
          <p:cNvPr id="16" name="Text 13"/>
          <p:cNvSpPr/>
          <p:nvPr/>
        </p:nvSpPr>
        <p:spPr>
          <a:xfrm>
            <a:off x="4568952"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Collect schedule form values and validation errors.</a:t>
            </a:r>
            <a:endParaRPr lang="en-US" sz="2200" dirty="0"/>
          </a:p>
        </p:txBody>
      </p:sp>
      <p:sp>
        <p:nvSpPr>
          <p:cNvPr id="17" name="Shape 14"/>
          <p:cNvSpPr/>
          <p:nvPr/>
        </p:nvSpPr>
        <p:spPr>
          <a:xfrm>
            <a:off x="8132064" y="2560320"/>
            <a:ext cx="3480816" cy="3383280"/>
          </a:xfrm>
          <a:prstGeom prst="roundRect">
            <a:avLst>
              <a:gd name="adj" fmla="val 3243"/>
            </a:avLst>
          </a:prstGeom>
          <a:solidFill>
            <a:srgbClr val="17202C"/>
          </a:solidFill>
          <a:ln w="8890">
            <a:solidFill>
              <a:srgbClr val="33455D"/>
            </a:solidFill>
            <a:prstDash val="solid"/>
          </a:ln>
        </p:spPr>
      </p:sp>
      <p:sp>
        <p:nvSpPr>
          <p:cNvPr id="18" name="Text 15"/>
          <p:cNvSpPr/>
          <p:nvPr/>
        </p:nvSpPr>
        <p:spPr>
          <a:xfrm>
            <a:off x="8360664"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03</a:t>
            </a:r>
            <a:endParaRPr lang="en-US" sz="1500" dirty="0"/>
          </a:p>
        </p:txBody>
      </p:sp>
      <p:sp>
        <p:nvSpPr>
          <p:cNvPr id="19" name="Text 16"/>
          <p:cNvSpPr/>
          <p:nvPr/>
        </p:nvSpPr>
        <p:spPr>
          <a:xfrm>
            <a:off x="8360664"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Inspect execution</a:t>
            </a:r>
            <a:endParaRPr lang="en-US" sz="2600" dirty="0"/>
          </a:p>
        </p:txBody>
      </p:sp>
      <p:sp>
        <p:nvSpPr>
          <p:cNvPr id="20" name="Text 17"/>
          <p:cNvSpPr/>
          <p:nvPr/>
        </p:nvSpPr>
        <p:spPr>
          <a:xfrm>
            <a:off x="8360664"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Display a task summary and past run statuses.</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LIBRARY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Scheduled tasks</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lib-scheduled-tasks-03</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03</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Follow the ownership boundary</a:t>
            </a:r>
            <a:endParaRPr lang="en-US" sz="3600" dirty="0"/>
          </a:p>
        </p:txBody>
      </p:sp>
      <p:sp>
        <p:nvSpPr>
          <p:cNvPr id="8" name="Text 5"/>
          <p:cNvSpPr/>
          <p:nvPr/>
        </p:nvSpPr>
        <p:spPr>
          <a:xfrm>
            <a:off x="576072" y="1901952"/>
            <a:ext cx="10972800" cy="457200"/>
          </a:xfrm>
          <a:prstGeom prst="rect">
            <a:avLst/>
          </a:prstGeom>
          <a:noFill/>
          <a:ln/>
        </p:spPr>
        <p:txBody>
          <a:bodyPr wrap="square" lIns="0" tIns="0" rIns="0" bIns="0" rtlCol="0" anchor="t"/>
          <a:lstStyle/>
          <a:p>
            <a:pPr indent="0" marL="0">
              <a:buNone/>
            </a:pPr>
            <a:r>
              <a:rPr lang="en-US" sz="1700" dirty="0">
                <a:solidFill>
                  <a:srgbClr val="8EBCFF"/>
                </a:solidFill>
                <a:latin typeface="Arial" pitchFamily="34" charset="0"/>
                <a:ea typeface="Arial" pitchFamily="34" charset="-122"/>
                <a:cs typeface="Arial" pitchFamily="34" charset="-120"/>
              </a:rPr>
              <a:t>Inputs and effects stay explicit.</a:t>
            </a:r>
            <a:endParaRPr lang="en-US" sz="1700" dirty="0"/>
          </a:p>
        </p:txBody>
      </p:sp>
      <p:sp>
        <p:nvSpPr>
          <p:cNvPr id="9" name="Shape 6"/>
          <p:cNvSpPr/>
          <p:nvPr/>
        </p:nvSpPr>
        <p:spPr>
          <a:xfrm>
            <a:off x="548640" y="2862072"/>
            <a:ext cx="2532888" cy="2039112"/>
          </a:xfrm>
          <a:prstGeom prst="roundRect">
            <a:avLst>
              <a:gd name="adj" fmla="val 5381"/>
            </a:avLst>
          </a:prstGeom>
          <a:solidFill>
            <a:srgbClr val="17202C"/>
          </a:solidFill>
          <a:ln w="8890">
            <a:solidFill>
              <a:srgbClr val="33455D"/>
            </a:solidFill>
            <a:prstDash val="solid"/>
          </a:ln>
        </p:spPr>
      </p:sp>
      <p:sp>
        <p:nvSpPr>
          <p:cNvPr id="10" name="Text 7"/>
          <p:cNvSpPr/>
          <p:nvPr/>
        </p:nvSpPr>
        <p:spPr>
          <a:xfrm>
            <a:off x="749808" y="3035808"/>
            <a:ext cx="2130552" cy="292608"/>
          </a:xfrm>
          <a:prstGeom prst="rect">
            <a:avLst/>
          </a:prstGeom>
          <a:noFill/>
          <a:ln/>
        </p:spPr>
        <p:txBody>
          <a:bodyPr wrap="square" lIns="0" tIns="0" rIns="0" bIns="0" rtlCol="0" anchor="t"/>
          <a:lstStyle/>
          <a:p>
            <a:pPr indent="0" marL="0">
              <a:buNone/>
            </a:pPr>
            <a:r>
              <a:rPr lang="en-US" sz="1600" dirty="0">
                <a:solidFill>
                  <a:srgbClr val="8EBCFF"/>
                </a:solidFill>
                <a:latin typeface="Arial" pitchFamily="34" charset="0"/>
                <a:ea typeface="Arial" pitchFamily="34" charset="-122"/>
                <a:cs typeface="Arial" pitchFamily="34" charset="-120"/>
              </a:rPr>
              <a:t>01</a:t>
            </a:r>
            <a:endParaRPr lang="en-US" sz="1600" dirty="0"/>
          </a:p>
        </p:txBody>
      </p:sp>
      <p:sp>
        <p:nvSpPr>
          <p:cNvPr id="11" name="Text 8"/>
          <p:cNvSpPr/>
          <p:nvPr/>
        </p:nvSpPr>
        <p:spPr>
          <a:xfrm>
            <a:off x="749808" y="3465576"/>
            <a:ext cx="2130552" cy="621792"/>
          </a:xfrm>
          <a:prstGeom prst="rect">
            <a:avLst/>
          </a:prstGeom>
          <a:noFill/>
          <a:ln/>
        </p:spPr>
        <p:txBody>
          <a:bodyPr wrap="square" lIns="0" tIns="0" rIns="0" bIns="0" rtlCol="0" anchor="t"/>
          <a:lstStyle/>
          <a:p>
            <a:pPr indent="0" marL="0">
              <a:buNone/>
            </a:pPr>
            <a:r>
              <a:rPr lang="en-US" sz="2100" b="1" dirty="0">
                <a:solidFill>
                  <a:srgbClr val="EDF2F7"/>
                </a:solidFill>
                <a:latin typeface="Arial" pitchFamily="34" charset="0"/>
                <a:ea typeface="Arial" pitchFamily="34" charset="-122"/>
                <a:cs typeface="Arial" pitchFamily="34" charset="-120"/>
              </a:rPr>
              <a:t>Host task adapter</a:t>
            </a:r>
            <a:endParaRPr lang="en-US" sz="2100" dirty="0"/>
          </a:p>
        </p:txBody>
      </p:sp>
      <p:sp>
        <p:nvSpPr>
          <p:cNvPr id="12" name="Text 9"/>
          <p:cNvSpPr/>
          <p:nvPr/>
        </p:nvSpPr>
        <p:spPr>
          <a:xfrm>
            <a:off x="749808" y="4178808"/>
            <a:ext cx="2130552" cy="576072"/>
          </a:xfrm>
          <a:prstGeom prst="rect">
            <a:avLst/>
          </a:prstGeom>
          <a:noFill/>
          <a:ln/>
        </p:spPr>
        <p:txBody>
          <a:bodyPr wrap="square" lIns="0" tIns="0" rIns="0" bIns="0" rtlCol="0" anchor="t"/>
          <a:lstStyle/>
          <a:p>
            <a:pPr indent="0" marL="0">
              <a:buNone/>
            </a:pPr>
            <a:r>
              <a:rPr lang="en-US" sz="1700" dirty="0">
                <a:solidFill>
                  <a:srgbClr val="BCC9DA"/>
                </a:solidFill>
                <a:latin typeface="Arial" pitchFamily="34" charset="0"/>
                <a:ea typeface="Arial" pitchFamily="34" charset="-122"/>
                <a:cs typeface="Arial" pitchFamily="34" charset="-120"/>
              </a:rPr>
              <a:t>Preformatted items</a:t>
            </a:r>
            <a:endParaRPr lang="en-US" sz="1700" dirty="0"/>
          </a:p>
        </p:txBody>
      </p:sp>
      <p:sp>
        <p:nvSpPr>
          <p:cNvPr id="13" name="Shape 10"/>
          <p:cNvSpPr/>
          <p:nvPr/>
        </p:nvSpPr>
        <p:spPr>
          <a:xfrm>
            <a:off x="3118104" y="3776472"/>
            <a:ext cx="237744" cy="0"/>
          </a:xfrm>
          <a:prstGeom prst="line">
            <a:avLst/>
          </a:prstGeom>
          <a:noFill/>
          <a:ln w="21590">
            <a:solidFill>
              <a:srgbClr val="8EBCFF"/>
            </a:solidFill>
            <a:prstDash val="solid"/>
            <a:headEnd type="none"/>
            <a:tailEnd type="triangle"/>
          </a:ln>
        </p:spPr>
      </p:sp>
      <p:sp>
        <p:nvSpPr>
          <p:cNvPr id="14" name="Shape 11"/>
          <p:cNvSpPr/>
          <p:nvPr/>
        </p:nvSpPr>
        <p:spPr>
          <a:xfrm>
            <a:off x="3392424" y="2862072"/>
            <a:ext cx="2532888" cy="2039112"/>
          </a:xfrm>
          <a:prstGeom prst="roundRect">
            <a:avLst>
              <a:gd name="adj" fmla="val 5381"/>
            </a:avLst>
          </a:prstGeom>
          <a:solidFill>
            <a:srgbClr val="17202C"/>
          </a:solidFill>
          <a:ln w="8890">
            <a:solidFill>
              <a:srgbClr val="33455D"/>
            </a:solidFill>
            <a:prstDash val="solid"/>
          </a:ln>
        </p:spPr>
      </p:sp>
      <p:sp>
        <p:nvSpPr>
          <p:cNvPr id="15" name="Text 12"/>
          <p:cNvSpPr/>
          <p:nvPr/>
        </p:nvSpPr>
        <p:spPr>
          <a:xfrm>
            <a:off x="3593592" y="3035808"/>
            <a:ext cx="2130552" cy="292608"/>
          </a:xfrm>
          <a:prstGeom prst="rect">
            <a:avLst/>
          </a:prstGeom>
          <a:noFill/>
          <a:ln/>
        </p:spPr>
        <p:txBody>
          <a:bodyPr wrap="square" lIns="0" tIns="0" rIns="0" bIns="0" rtlCol="0" anchor="t"/>
          <a:lstStyle/>
          <a:p>
            <a:pPr indent="0" marL="0">
              <a:buNone/>
            </a:pPr>
            <a:r>
              <a:rPr lang="en-US" sz="1600" dirty="0">
                <a:solidFill>
                  <a:srgbClr val="8EBCFF"/>
                </a:solidFill>
                <a:latin typeface="Arial" pitchFamily="34" charset="0"/>
                <a:ea typeface="Arial" pitchFamily="34" charset="-122"/>
                <a:cs typeface="Arial" pitchFamily="34" charset="-120"/>
              </a:rPr>
              <a:t>02</a:t>
            </a:r>
            <a:endParaRPr lang="en-US" sz="1600" dirty="0"/>
          </a:p>
        </p:txBody>
      </p:sp>
      <p:sp>
        <p:nvSpPr>
          <p:cNvPr id="16" name="Text 13"/>
          <p:cNvSpPr/>
          <p:nvPr/>
        </p:nvSpPr>
        <p:spPr>
          <a:xfrm>
            <a:off x="3593592" y="3465576"/>
            <a:ext cx="2130552" cy="621792"/>
          </a:xfrm>
          <a:prstGeom prst="rect">
            <a:avLst/>
          </a:prstGeom>
          <a:noFill/>
          <a:ln/>
        </p:spPr>
        <p:txBody>
          <a:bodyPr wrap="square" lIns="0" tIns="0" rIns="0" bIns="0" rtlCol="0" anchor="t"/>
          <a:lstStyle/>
          <a:p>
            <a:pPr indent="0" marL="0">
              <a:buNone/>
            </a:pPr>
            <a:r>
              <a:rPr lang="en-US" sz="2100" b="1" dirty="0">
                <a:solidFill>
                  <a:srgbClr val="EDF2F7"/>
                </a:solidFill>
                <a:latin typeface="Arial" pitchFamily="34" charset="0"/>
                <a:ea typeface="Arial" pitchFamily="34" charset="-122"/>
                <a:cs typeface="Arial" pitchFamily="34" charset="-120"/>
              </a:rPr>
              <a:t>Scheduled Tasks</a:t>
            </a:r>
            <a:endParaRPr lang="en-US" sz="2100" dirty="0"/>
          </a:p>
        </p:txBody>
      </p:sp>
      <p:sp>
        <p:nvSpPr>
          <p:cNvPr id="17" name="Text 14"/>
          <p:cNvSpPr/>
          <p:nvPr/>
        </p:nvSpPr>
        <p:spPr>
          <a:xfrm>
            <a:off x="3593592" y="4178808"/>
            <a:ext cx="2130552" cy="576072"/>
          </a:xfrm>
          <a:prstGeom prst="rect">
            <a:avLst/>
          </a:prstGeom>
          <a:noFill/>
          <a:ln/>
        </p:spPr>
        <p:txBody>
          <a:bodyPr wrap="square" lIns="0" tIns="0" rIns="0" bIns="0" rtlCol="0" anchor="t"/>
          <a:lstStyle/>
          <a:p>
            <a:pPr indent="0" marL="0">
              <a:buNone/>
            </a:pPr>
            <a:r>
              <a:rPr lang="en-US" sz="1700" dirty="0">
                <a:solidFill>
                  <a:srgbClr val="BCC9DA"/>
                </a:solidFill>
                <a:latin typeface="Arial" pitchFamily="34" charset="0"/>
                <a:ea typeface="Arial" pitchFamily="34" charset="-122"/>
                <a:cs typeface="Arial" pitchFamily="34" charset="-120"/>
              </a:rPr>
              <a:t>Cards and toolbar</a:t>
            </a:r>
            <a:endParaRPr lang="en-US" sz="1700" dirty="0"/>
          </a:p>
        </p:txBody>
      </p:sp>
      <p:sp>
        <p:nvSpPr>
          <p:cNvPr id="18" name="Shape 15"/>
          <p:cNvSpPr/>
          <p:nvPr/>
        </p:nvSpPr>
        <p:spPr>
          <a:xfrm>
            <a:off x="5961888" y="3776472"/>
            <a:ext cx="237744" cy="0"/>
          </a:xfrm>
          <a:prstGeom prst="line">
            <a:avLst/>
          </a:prstGeom>
          <a:noFill/>
          <a:ln w="21590">
            <a:solidFill>
              <a:srgbClr val="8EBCFF"/>
            </a:solidFill>
            <a:prstDash val="solid"/>
            <a:headEnd type="none"/>
            <a:tailEnd type="triangle"/>
          </a:ln>
        </p:spPr>
      </p:sp>
      <p:sp>
        <p:nvSpPr>
          <p:cNvPr id="19" name="Shape 16"/>
          <p:cNvSpPr/>
          <p:nvPr/>
        </p:nvSpPr>
        <p:spPr>
          <a:xfrm>
            <a:off x="6236208" y="2862072"/>
            <a:ext cx="2532888" cy="2039112"/>
          </a:xfrm>
          <a:prstGeom prst="roundRect">
            <a:avLst>
              <a:gd name="adj" fmla="val 5381"/>
            </a:avLst>
          </a:prstGeom>
          <a:solidFill>
            <a:srgbClr val="17202C"/>
          </a:solidFill>
          <a:ln w="8890">
            <a:solidFill>
              <a:srgbClr val="33455D"/>
            </a:solidFill>
            <a:prstDash val="solid"/>
          </a:ln>
        </p:spPr>
      </p:sp>
      <p:sp>
        <p:nvSpPr>
          <p:cNvPr id="20" name="Text 17"/>
          <p:cNvSpPr/>
          <p:nvPr/>
        </p:nvSpPr>
        <p:spPr>
          <a:xfrm>
            <a:off x="6437376" y="3035808"/>
            <a:ext cx="2130552" cy="292608"/>
          </a:xfrm>
          <a:prstGeom prst="rect">
            <a:avLst/>
          </a:prstGeom>
          <a:noFill/>
          <a:ln/>
        </p:spPr>
        <p:txBody>
          <a:bodyPr wrap="square" lIns="0" tIns="0" rIns="0" bIns="0" rtlCol="0" anchor="t"/>
          <a:lstStyle/>
          <a:p>
            <a:pPr indent="0" marL="0">
              <a:buNone/>
            </a:pPr>
            <a:r>
              <a:rPr lang="en-US" sz="1600" dirty="0">
                <a:solidFill>
                  <a:srgbClr val="8EBCFF"/>
                </a:solidFill>
                <a:latin typeface="Arial" pitchFamily="34" charset="0"/>
                <a:ea typeface="Arial" pitchFamily="34" charset="-122"/>
                <a:cs typeface="Arial" pitchFamily="34" charset="-120"/>
              </a:rPr>
              <a:t>03</a:t>
            </a:r>
            <a:endParaRPr lang="en-US" sz="1600" dirty="0"/>
          </a:p>
        </p:txBody>
      </p:sp>
      <p:sp>
        <p:nvSpPr>
          <p:cNvPr id="21" name="Text 18"/>
          <p:cNvSpPr/>
          <p:nvPr/>
        </p:nvSpPr>
        <p:spPr>
          <a:xfrm>
            <a:off x="6437376" y="3465576"/>
            <a:ext cx="2130552" cy="621792"/>
          </a:xfrm>
          <a:prstGeom prst="rect">
            <a:avLst/>
          </a:prstGeom>
          <a:noFill/>
          <a:ln/>
        </p:spPr>
        <p:txBody>
          <a:bodyPr wrap="square" lIns="0" tIns="0" rIns="0" bIns="0" rtlCol="0" anchor="t"/>
          <a:lstStyle/>
          <a:p>
            <a:pPr indent="0" marL="0">
              <a:buNone/>
            </a:pPr>
            <a:r>
              <a:rPr lang="en-US" sz="2100" b="1" dirty="0">
                <a:solidFill>
                  <a:srgbClr val="EDF2F7"/>
                </a:solidFill>
                <a:latin typeface="Arial" pitchFamily="34" charset="0"/>
                <a:ea typeface="Arial" pitchFamily="34" charset="-122"/>
                <a:cs typeface="Arial" pitchFamily="34" charset="-120"/>
              </a:rPr>
              <a:t>Search / sort callback</a:t>
            </a:r>
            <a:endParaRPr lang="en-US" sz="2100" dirty="0"/>
          </a:p>
        </p:txBody>
      </p:sp>
      <p:sp>
        <p:nvSpPr>
          <p:cNvPr id="22" name="Text 19"/>
          <p:cNvSpPr/>
          <p:nvPr/>
        </p:nvSpPr>
        <p:spPr>
          <a:xfrm>
            <a:off x="6437376" y="4178808"/>
            <a:ext cx="2130552" cy="576072"/>
          </a:xfrm>
          <a:prstGeom prst="rect">
            <a:avLst/>
          </a:prstGeom>
          <a:noFill/>
          <a:ln/>
        </p:spPr>
        <p:txBody>
          <a:bodyPr wrap="square" lIns="0" tIns="0" rIns="0" bIns="0" rtlCol="0" anchor="t"/>
          <a:lstStyle/>
          <a:p>
            <a:pPr indent="0" marL="0">
              <a:buNone/>
            </a:pPr>
            <a:r>
              <a:rPr lang="en-US" sz="1700" dirty="0">
                <a:solidFill>
                  <a:srgbClr val="BCC9DA"/>
                </a:solidFill>
                <a:latin typeface="Arial" pitchFamily="34" charset="0"/>
                <a:ea typeface="Arial" pitchFamily="34" charset="-122"/>
                <a:cs typeface="Arial" pitchFamily="34" charset="-120"/>
              </a:rPr>
              <a:t>Query or enum</a:t>
            </a:r>
            <a:endParaRPr lang="en-US" sz="1700" dirty="0"/>
          </a:p>
        </p:txBody>
      </p:sp>
      <p:sp>
        <p:nvSpPr>
          <p:cNvPr id="23" name="Shape 20"/>
          <p:cNvSpPr/>
          <p:nvPr/>
        </p:nvSpPr>
        <p:spPr>
          <a:xfrm>
            <a:off x="8805672" y="3776472"/>
            <a:ext cx="237744" cy="0"/>
          </a:xfrm>
          <a:prstGeom prst="line">
            <a:avLst/>
          </a:prstGeom>
          <a:noFill/>
          <a:ln w="21590">
            <a:solidFill>
              <a:srgbClr val="8EBCFF"/>
            </a:solidFill>
            <a:prstDash val="solid"/>
            <a:headEnd type="none"/>
            <a:tailEnd type="triangle"/>
          </a:ln>
        </p:spPr>
      </p:sp>
      <p:sp>
        <p:nvSpPr>
          <p:cNvPr id="24" name="Shape 21"/>
          <p:cNvSpPr/>
          <p:nvPr/>
        </p:nvSpPr>
        <p:spPr>
          <a:xfrm>
            <a:off x="9079992" y="2862072"/>
            <a:ext cx="2532888" cy="2039112"/>
          </a:xfrm>
          <a:prstGeom prst="roundRect">
            <a:avLst>
              <a:gd name="adj" fmla="val 5381"/>
            </a:avLst>
          </a:prstGeom>
          <a:solidFill>
            <a:srgbClr val="17202C"/>
          </a:solidFill>
          <a:ln w="8890">
            <a:solidFill>
              <a:srgbClr val="33455D"/>
            </a:solidFill>
            <a:prstDash val="solid"/>
          </a:ln>
        </p:spPr>
      </p:sp>
      <p:sp>
        <p:nvSpPr>
          <p:cNvPr id="25" name="Text 22"/>
          <p:cNvSpPr/>
          <p:nvPr/>
        </p:nvSpPr>
        <p:spPr>
          <a:xfrm>
            <a:off x="9281160" y="3035808"/>
            <a:ext cx="2130552" cy="292608"/>
          </a:xfrm>
          <a:prstGeom prst="rect">
            <a:avLst/>
          </a:prstGeom>
          <a:noFill/>
          <a:ln/>
        </p:spPr>
        <p:txBody>
          <a:bodyPr wrap="square" lIns="0" tIns="0" rIns="0" bIns="0" rtlCol="0" anchor="t"/>
          <a:lstStyle/>
          <a:p>
            <a:pPr indent="0" marL="0">
              <a:buNone/>
            </a:pPr>
            <a:r>
              <a:rPr lang="en-US" sz="1600" dirty="0">
                <a:solidFill>
                  <a:srgbClr val="8EBCFF"/>
                </a:solidFill>
                <a:latin typeface="Arial" pitchFamily="34" charset="0"/>
                <a:ea typeface="Arial" pitchFamily="34" charset="-122"/>
                <a:cs typeface="Arial" pitchFamily="34" charset="-120"/>
              </a:rPr>
              <a:t>04</a:t>
            </a:r>
            <a:endParaRPr lang="en-US" sz="1600" dirty="0"/>
          </a:p>
        </p:txBody>
      </p:sp>
      <p:sp>
        <p:nvSpPr>
          <p:cNvPr id="26" name="Text 23"/>
          <p:cNvSpPr/>
          <p:nvPr/>
        </p:nvSpPr>
        <p:spPr>
          <a:xfrm>
            <a:off x="9281160" y="3465576"/>
            <a:ext cx="2130552" cy="621792"/>
          </a:xfrm>
          <a:prstGeom prst="rect">
            <a:avLst/>
          </a:prstGeom>
          <a:noFill/>
          <a:ln/>
        </p:spPr>
        <p:txBody>
          <a:bodyPr wrap="square" lIns="0" tIns="0" rIns="0" bIns="0" rtlCol="0" anchor="t"/>
          <a:lstStyle/>
          <a:p>
            <a:pPr indent="0" marL="0">
              <a:buNone/>
            </a:pPr>
            <a:r>
              <a:rPr lang="en-US" sz="2100" b="1" dirty="0">
                <a:solidFill>
                  <a:srgbClr val="EDF2F7"/>
                </a:solidFill>
                <a:latin typeface="Arial" pitchFamily="34" charset="0"/>
                <a:ea typeface="Arial" pitchFamily="34" charset="-122"/>
                <a:cs typeface="Arial" pitchFamily="34" charset="-120"/>
              </a:rPr>
              <a:t>Host update</a:t>
            </a:r>
            <a:endParaRPr lang="en-US" sz="2100" dirty="0"/>
          </a:p>
        </p:txBody>
      </p:sp>
      <p:sp>
        <p:nvSpPr>
          <p:cNvPr id="27" name="Text 24"/>
          <p:cNvSpPr/>
          <p:nvPr/>
        </p:nvSpPr>
        <p:spPr>
          <a:xfrm>
            <a:off x="9281160" y="4178808"/>
            <a:ext cx="2130552" cy="576072"/>
          </a:xfrm>
          <a:prstGeom prst="rect">
            <a:avLst/>
          </a:prstGeom>
          <a:noFill/>
          <a:ln/>
        </p:spPr>
        <p:txBody>
          <a:bodyPr wrap="square" lIns="0" tIns="0" rIns="0" bIns="0" rtlCol="0" anchor="t"/>
          <a:lstStyle/>
          <a:p>
            <a:pPr indent="0" marL="0">
              <a:buNone/>
            </a:pPr>
            <a:r>
              <a:rPr lang="en-US" sz="1700" dirty="0">
                <a:solidFill>
                  <a:srgbClr val="BCC9DA"/>
                </a:solidFill>
                <a:latin typeface="Arial" pitchFamily="34" charset="0"/>
                <a:ea typeface="Arial" pitchFamily="34" charset="-122"/>
                <a:cs typeface="Arial" pitchFamily="34" charset="-120"/>
              </a:rPr>
              <a:t>Derive next item set</a:t>
            </a:r>
            <a:endParaRPr lang="en-US" sz="1700" dirty="0"/>
          </a:p>
        </p:txBody>
      </p:sp>
      <p:sp>
        <p:nvSpPr>
          <p:cNvPr id="28" name="Text 25"/>
          <p:cNvSpPr/>
          <p:nvPr/>
        </p:nvSpPr>
        <p:spPr>
          <a:xfrm>
            <a:off x="603504" y="5349240"/>
            <a:ext cx="10927080" cy="676656"/>
          </a:xfrm>
          <a:prstGeom prst="rect">
            <a:avLst/>
          </a:prstGeom>
          <a:noFill/>
          <a:ln/>
        </p:spPr>
        <p:txBody>
          <a:bodyPr wrap="square" lIns="0" tIns="0" rIns="0" bIns="0" rtlCol="0" anchor="t"/>
          <a:lstStyle/>
          <a:p>
            <a:pPr indent="0" marL="0">
              <a:buNone/>
            </a:pPr>
            <a:r>
              <a:rPr lang="en-US" sz="2400" dirty="0">
                <a:solidFill>
                  <a:srgbClr val="8EBCFF"/>
                </a:solidFill>
                <a:latin typeface="Arial" pitchFamily="34" charset="0"/>
                <a:ea typeface="Arial" pitchFamily="34" charset="-122"/>
                <a:cs typeface="Arial" pitchFamily="34" charset="-120"/>
              </a:rPr>
              <a:t>Library: List/form/detail UI and user interactions.</a:t>
            </a:r>
            <a:endParaRPr lang="en-US"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LIBRARY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Scheduled tasks</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lib-scheduled-tasks-04</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04</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The public contract to start with</a:t>
            </a:r>
            <a:endParaRPr lang="en-US" sz="3600" dirty="0"/>
          </a:p>
        </p:txBody>
      </p:sp>
      <p:sp>
        <p:nvSpPr>
          <p:cNvPr id="8" name="Text 5"/>
          <p:cNvSpPr/>
          <p:nvPr/>
        </p:nvSpPr>
        <p:spPr>
          <a:xfrm>
            <a:off x="576072" y="1901952"/>
            <a:ext cx="10972800" cy="457200"/>
          </a:xfrm>
          <a:prstGeom prst="rect">
            <a:avLst/>
          </a:prstGeom>
          <a:noFill/>
          <a:ln/>
        </p:spPr>
        <p:txBody>
          <a:bodyPr wrap="square" lIns="0" tIns="0" rIns="0" bIns="0" rtlCol="0" anchor="t"/>
          <a:lstStyle/>
          <a:p>
            <a:pPr indent="0" marL="0">
              <a:buNone/>
            </a:pPr>
            <a:r>
              <a:rPr lang="en-US" sz="1700" dirty="0">
                <a:solidFill>
                  <a:srgbClr val="8EBCFF"/>
                </a:solidFill>
                <a:latin typeface="Arial" pitchFamily="34" charset="0"/>
                <a:ea typeface="Arial" pitchFamily="34" charset="-122"/>
                <a:cs typeface="Arial" pitchFamily="34" charset="-120"/>
              </a:rPr>
              <a:t>ScheduledTasks · selected surface; full API index is in the bundle.</a:t>
            </a:r>
            <a:endParaRPr lang="en-US" sz="17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76072" y="2587752"/>
          <a:ext cx="11009376" cy="3246120"/>
        </p:xfrm>
        <a:graphic>
          <a:graphicData uri="http://schemas.openxmlformats.org/drawingml/2006/table">
            <a:tbl>
              <a:tblPr/>
              <a:tblGrid>
                <a:gridCol w="3474720"/>
                <a:gridCol w="7534656"/>
              </a:tblGrid>
              <a:tr h="685800">
                <a:tc>
                  <a:txBody>
                    <a:bodyPr/>
                    <a:lstStyle/>
                    <a:p>
                      <a:pPr indent="0" marL="0">
                        <a:buNone/>
                      </a:pPr>
                      <a:r>
                        <a:rPr lang="en-US" sz="2000" b="1" dirty="0">
                          <a:solidFill>
                            <a:srgbClr val="8EBCFF"/>
                          </a:solidFill>
                          <a:latin typeface="Arial" pitchFamily="34" charset="0"/>
                          <a:ea typeface="Arial" pitchFamily="34" charset="-122"/>
                          <a:cs typeface="Arial" pitchFamily="34" charset="-120"/>
                        </a:rPr>
                        <a:t>Input or operation</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22324A"/>
                    </a:solidFill>
                  </a:tcPr>
                </a:tc>
                <a:tc>
                  <a:txBody>
                    <a:bodyPr/>
                    <a:lstStyle/>
                    <a:p>
                      <a:pPr indent="0" marL="0">
                        <a:buNone/>
                      </a:pPr>
                      <a:r>
                        <a:rPr lang="en-US" sz="2000" b="1" dirty="0">
                          <a:solidFill>
                            <a:srgbClr val="8EBCFF"/>
                          </a:solidFill>
                          <a:latin typeface="Arial" pitchFamily="34" charset="0"/>
                          <a:ea typeface="Arial" pitchFamily="34" charset="-122"/>
                          <a:cs typeface="Arial" pitchFamily="34" charset="-120"/>
                        </a:rPr>
                        <a:t>Contract</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22324A"/>
                    </a:solidFill>
                  </a:tcPr>
                </a:tc>
              </a:tr>
              <a:tr h="685800">
                <a:tc>
                  <a:txBody>
                    <a:bodyPr/>
                    <a:lstStyle/>
                    <a:p>
                      <a:pPr indent="0" marL="0">
                        <a:buNone/>
                      </a:pPr>
                      <a:r>
                        <a:rPr lang="en-US" sz="2000" dirty="0">
                          <a:solidFill>
                            <a:srgbClr val="EDF2F7"/>
                          </a:solidFill>
                          <a:latin typeface="Arial" pitchFamily="34" charset="0"/>
                          <a:ea typeface="Arial" pitchFamily="34" charset="-122"/>
                          <a:cs typeface="Arial" pitchFamily="34" charset="-120"/>
                        </a:rPr>
                        <a:t>items</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c>
                  <a:txBody>
                    <a:bodyPr/>
                    <a:lstStyle/>
                    <a:p>
                      <a:pPr indent="0" marL="0">
                        <a:buNone/>
                      </a:pPr>
                      <a:r>
                        <a:rPr lang="en-US" sz="2000" dirty="0">
                          <a:solidFill>
                            <a:srgbClr val="EDF2F7"/>
                          </a:solidFill>
                          <a:latin typeface="Arial" pitchFamily="34" charset="0"/>
                          <a:ea typeface="Arial" pitchFamily="34" charset="-122"/>
                          <a:cs typeface="Arial" pitchFamily="34" charset="-120"/>
                        </a:rPr>
                        <a:t>ScheduledTaskItem[]</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r>
              <a:tr h="685800">
                <a:tc>
                  <a:txBody>
                    <a:bodyPr/>
                    <a:lstStyle/>
                    <a:p>
                      <a:pPr indent="0" marL="0">
                        <a:buNone/>
                      </a:pPr>
                      <a:r>
                        <a:rPr lang="en-US" sz="2000" dirty="0">
                          <a:solidFill>
                            <a:srgbClr val="EDF2F7"/>
                          </a:solidFill>
                          <a:latin typeface="Arial" pitchFamily="34" charset="0"/>
                          <a:ea typeface="Arial" pitchFamily="34" charset="-122"/>
                          <a:cs typeface="Arial" pitchFamily="34" charset="-120"/>
                        </a:rPr>
                        <a:t>searchQuery</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c>
                  <a:txBody>
                    <a:bodyPr/>
                    <a:lstStyle/>
                    <a:p>
                      <a:pPr indent="0" marL="0">
                        <a:buNone/>
                      </a:pPr>
                      <a:r>
                        <a:rPr lang="en-US" sz="2000" dirty="0">
                          <a:solidFill>
                            <a:srgbClr val="EDF2F7"/>
                          </a:solidFill>
                          <a:latin typeface="Arial" pitchFamily="34" charset="0"/>
                          <a:ea typeface="Arial" pitchFamily="34" charset="-122"/>
                          <a:cs typeface="Arial" pitchFamily="34" charset="-120"/>
                        </a:rPr>
                        <a:t>string</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r>
              <a:tr h="685800">
                <a:tc>
                  <a:txBody>
                    <a:bodyPr/>
                    <a:lstStyle/>
                    <a:p>
                      <a:pPr indent="0" marL="0">
                        <a:buNone/>
                      </a:pPr>
                      <a:r>
                        <a:rPr lang="en-US" sz="2000" dirty="0">
                          <a:solidFill>
                            <a:srgbClr val="EDF2F7"/>
                          </a:solidFill>
                          <a:latin typeface="Arial" pitchFamily="34" charset="0"/>
                          <a:ea typeface="Arial" pitchFamily="34" charset="-122"/>
                          <a:cs typeface="Arial" pitchFamily="34" charset="-120"/>
                        </a:rPr>
                        <a:t>sortKey</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c>
                  <a:txBody>
                    <a:bodyPr/>
                    <a:lstStyle/>
                    <a:p>
                      <a:pPr indent="0" marL="0">
                        <a:buNone/>
                      </a:pPr>
                      <a:r>
                        <a:rPr lang="en-US" sz="2000" dirty="0">
                          <a:solidFill>
                            <a:srgbClr val="EDF2F7"/>
                          </a:solidFill>
                          <a:latin typeface="Arial" pitchFamily="34" charset="0"/>
                          <a:ea typeface="Arial" pitchFamily="34" charset="-122"/>
                          <a:cs typeface="Arial" pitchFamily="34" charset="-120"/>
                        </a:rPr>
                        <a:t>ScheduledTasksSortKey</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r>
              <a:tr h="685800">
                <a:tc>
                  <a:txBody>
                    <a:bodyPr/>
                    <a:lstStyle/>
                    <a:p>
                      <a:pPr indent="0" marL="0">
                        <a:buNone/>
                      </a:pPr>
                      <a:r>
                        <a:rPr lang="en-US" sz="2000" dirty="0">
                          <a:solidFill>
                            <a:srgbClr val="EDF2F7"/>
                          </a:solidFill>
                          <a:latin typeface="Arial" pitchFamily="34" charset="0"/>
                          <a:ea typeface="Arial" pitchFamily="34" charset="-122"/>
                          <a:cs typeface="Arial" pitchFamily="34" charset="-120"/>
                        </a:rPr>
                        <a:t>labels</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c>
                  <a:txBody>
                    <a:bodyPr/>
                    <a:lstStyle/>
                    <a:p>
                      <a:pPr indent="0" marL="0">
                        <a:buNone/>
                      </a:pPr>
                      <a:r>
                        <a:rPr lang="en-US" sz="2000" dirty="0">
                          <a:solidFill>
                            <a:srgbClr val="EDF2F7"/>
                          </a:solidFill>
                          <a:latin typeface="Arial" pitchFamily="34" charset="0"/>
                          <a:ea typeface="Arial" pitchFamily="34" charset="-122"/>
                          <a:cs typeface="Arial" pitchFamily="34" charset="-120"/>
                        </a:rPr>
                        <a:t>ScheduledTasksLabels</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LIBRARY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Scheduled tasks</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lib-scheduled-tasks-05</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05</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A minimal workspace integration</a:t>
            </a:r>
            <a:endParaRPr lang="en-US" sz="3600" dirty="0"/>
          </a:p>
        </p:txBody>
      </p:sp>
      <p:sp>
        <p:nvSpPr>
          <p:cNvPr id="8" name="Text 5"/>
          <p:cNvSpPr/>
          <p:nvPr/>
        </p:nvSpPr>
        <p:spPr>
          <a:xfrm>
            <a:off x="576072" y="1901952"/>
            <a:ext cx="10972800" cy="457200"/>
          </a:xfrm>
          <a:prstGeom prst="rect">
            <a:avLst/>
          </a:prstGeom>
          <a:noFill/>
          <a:ln/>
        </p:spPr>
        <p:txBody>
          <a:bodyPr wrap="square" lIns="0" tIns="0" rIns="0" bIns="0" rtlCol="0" anchor="t"/>
          <a:lstStyle/>
          <a:p>
            <a:pPr indent="0" marL="0">
              <a:buNone/>
            </a:pPr>
            <a:r>
              <a:rPr lang="en-US" sz="1700" dirty="0">
                <a:solidFill>
                  <a:srgbClr val="8EBCFF"/>
                </a:solidFill>
                <a:latin typeface="Arial" pitchFamily="34" charset="0"/>
                <a:ea typeface="Arial" pitchFamily="34" charset="-122"/>
                <a:cs typeface="Arial" pitchFamily="34" charset="-120"/>
              </a:rPr>
              <a:t>TypeScript / React example · imports and host setup abridged.</a:t>
            </a:r>
            <a:endParaRPr lang="en-US" sz="1700" dirty="0"/>
          </a:p>
        </p:txBody>
      </p:sp>
      <p:sp>
        <p:nvSpPr>
          <p:cNvPr id="9" name="Shape 6"/>
          <p:cNvSpPr/>
          <p:nvPr/>
        </p:nvSpPr>
        <p:spPr>
          <a:xfrm>
            <a:off x="548640" y="2606040"/>
            <a:ext cx="11064240" cy="3310128"/>
          </a:xfrm>
          <a:prstGeom prst="roundRect">
            <a:avLst>
              <a:gd name="adj" fmla="val 3315"/>
            </a:avLst>
          </a:prstGeom>
          <a:solidFill>
            <a:srgbClr val="17202C"/>
          </a:solidFill>
          <a:ln w="8890">
            <a:solidFill>
              <a:srgbClr val="33455D"/>
            </a:solidFill>
            <a:prstDash val="solid"/>
          </a:ln>
        </p:spPr>
      </p:sp>
      <p:sp>
        <p:nvSpPr>
          <p:cNvPr id="10" name="Text 7"/>
          <p:cNvSpPr/>
          <p:nvPr/>
        </p:nvSpPr>
        <p:spPr>
          <a:xfrm>
            <a:off x="786384" y="2798064"/>
            <a:ext cx="10561320" cy="2926080"/>
          </a:xfrm>
          <a:prstGeom prst="rect">
            <a:avLst/>
          </a:prstGeom>
          <a:noFill/>
          <a:ln/>
        </p:spPr>
        <p:txBody>
          <a:bodyPr wrap="square" lIns="0" tIns="0" rIns="0" bIns="0" rtlCol="0" anchor="t"/>
          <a:lstStyle/>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const [query, setQuery] = useState('');</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const [sort, setSort] = useState(</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  ScheduledTasksSortKey.FirstToRun,</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&lt;ScheduledTasks</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  {...host}</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  searchQuery={query} onSearchQueryChange={setQuery}</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  sortKey={sort} onSortChange={setSort}</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/&gt;</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 host supplies items, labels and onCreateClick.</a:t>
            </a:r>
            <a:endParaRPr lang="en-US" sz="1800" dirty="0"/>
          </a:p>
        </p:txBody>
      </p:sp>
      <p:sp>
        <p:nvSpPr>
          <p:cNvPr id="11" name="Text 8"/>
          <p:cNvSpPr/>
          <p:nvPr/>
        </p:nvSpPr>
        <p:spPr>
          <a:xfrm>
            <a:off x="594360" y="6016752"/>
            <a:ext cx="10881360" cy="219456"/>
          </a:xfrm>
          <a:prstGeom prst="rect">
            <a:avLst/>
          </a:prstGeom>
          <a:noFill/>
          <a:ln/>
        </p:spPr>
        <p:txBody>
          <a:bodyPr wrap="square" lIns="0" tIns="0" rIns="0" bIns="0" rtlCol="0" anchor="t"/>
          <a:lstStyle/>
          <a:p>
            <a:pPr indent="0" marL="0">
              <a:buNone/>
            </a:pPr>
            <a:r>
              <a:rPr lang="en-US" sz="1200" dirty="0">
                <a:solidFill>
                  <a:srgbClr val="BCC9DA"/>
                </a:solidFill>
                <a:latin typeface="Arial" pitchFamily="34" charset="0"/>
                <a:ea typeface="Arial" pitchFamily="34" charset="-122"/>
                <a:cs typeface="Arial" pitchFamily="34" charset="-120"/>
              </a:rPr>
              <a:t>Full example: examples/scheduled-tasks.tsx · uses @epam/ai-dial-scheduled-tasks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LIBRARY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Scheduled tasks</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lib-scheduled-tasks-06</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06</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Wire a realistic host workflow</a:t>
            </a:r>
            <a:endParaRPr lang="en-US" sz="3600" dirty="0"/>
          </a:p>
        </p:txBody>
      </p:sp>
      <p:sp>
        <p:nvSpPr>
          <p:cNvPr id="8" name="Text 5"/>
          <p:cNvSpPr/>
          <p:nvPr/>
        </p:nvSpPr>
        <p:spPr>
          <a:xfrm>
            <a:off x="576072" y="1901952"/>
            <a:ext cx="10972800" cy="457200"/>
          </a:xfrm>
          <a:prstGeom prst="rect">
            <a:avLst/>
          </a:prstGeom>
          <a:noFill/>
          <a:ln/>
        </p:spPr>
        <p:txBody>
          <a:bodyPr wrap="square" lIns="0" tIns="0" rIns="0" bIns="0" rtlCol="0" anchor="t"/>
          <a:lstStyle/>
          <a:p>
            <a:pPr indent="0" marL="0">
              <a:buNone/>
            </a:pPr>
            <a:r>
              <a:rPr lang="en-US" sz="1700" dirty="0">
                <a:solidFill>
                  <a:srgbClr val="8EBCFF"/>
                </a:solidFill>
                <a:latin typeface="Arial" pitchFamily="34" charset="0"/>
                <a:ea typeface="Arial" pitchFamily="34" charset="-122"/>
                <a:cs typeface="Arial" pitchFamily="34" charset="-120"/>
              </a:rPr>
              <a:t>Keep scheduled tasks focused on its public responsibility.</a:t>
            </a:r>
            <a:endParaRPr lang="en-US" sz="1700" dirty="0"/>
          </a:p>
        </p:txBody>
      </p:sp>
      <p:sp>
        <p:nvSpPr>
          <p:cNvPr id="9" name="Shape 6"/>
          <p:cNvSpPr/>
          <p:nvPr/>
        </p:nvSpPr>
        <p:spPr>
          <a:xfrm>
            <a:off x="548640" y="2560320"/>
            <a:ext cx="3480816" cy="3383280"/>
          </a:xfrm>
          <a:prstGeom prst="roundRect">
            <a:avLst>
              <a:gd name="adj" fmla="val 3243"/>
            </a:avLst>
          </a:prstGeom>
          <a:solidFill>
            <a:srgbClr val="17202C"/>
          </a:solidFill>
          <a:ln w="8890">
            <a:solidFill>
              <a:srgbClr val="33455D"/>
            </a:solidFill>
            <a:prstDash val="solid"/>
          </a:ln>
        </p:spPr>
      </p:sp>
      <p:sp>
        <p:nvSpPr>
          <p:cNvPr id="10" name="Text 7"/>
          <p:cNvSpPr/>
          <p:nvPr/>
        </p:nvSpPr>
        <p:spPr>
          <a:xfrm>
            <a:off x="777240"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01</a:t>
            </a:r>
            <a:endParaRPr lang="en-US" sz="1500" dirty="0"/>
          </a:p>
        </p:txBody>
      </p:sp>
      <p:sp>
        <p:nvSpPr>
          <p:cNvPr id="11" name="Text 8"/>
          <p:cNvSpPr/>
          <p:nvPr/>
        </p:nvSpPr>
        <p:spPr>
          <a:xfrm>
            <a:off x="777240"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Load task records</a:t>
            </a:r>
            <a:endParaRPr lang="en-US" sz="2600" dirty="0"/>
          </a:p>
        </p:txBody>
      </p:sp>
      <p:sp>
        <p:nvSpPr>
          <p:cNvPr id="12" name="Text 9"/>
          <p:cNvSpPr/>
          <p:nvPr/>
        </p:nvSpPr>
        <p:spPr>
          <a:xfrm>
            <a:off x="777240"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The host supplies task items, labels and action callbacks.</a:t>
            </a:r>
            <a:endParaRPr lang="en-US" sz="2200" dirty="0"/>
          </a:p>
        </p:txBody>
      </p:sp>
      <p:sp>
        <p:nvSpPr>
          <p:cNvPr id="13" name="Shape 10"/>
          <p:cNvSpPr/>
          <p:nvPr/>
        </p:nvSpPr>
        <p:spPr>
          <a:xfrm>
            <a:off x="4340352" y="2560320"/>
            <a:ext cx="3480816" cy="3383280"/>
          </a:xfrm>
          <a:prstGeom prst="roundRect">
            <a:avLst>
              <a:gd name="adj" fmla="val 3243"/>
            </a:avLst>
          </a:prstGeom>
          <a:solidFill>
            <a:srgbClr val="17202C"/>
          </a:solidFill>
          <a:ln w="8890">
            <a:solidFill>
              <a:srgbClr val="33455D"/>
            </a:solidFill>
            <a:prstDash val="solid"/>
          </a:ln>
        </p:spPr>
      </p:sp>
      <p:sp>
        <p:nvSpPr>
          <p:cNvPr id="14" name="Text 11"/>
          <p:cNvSpPr/>
          <p:nvPr/>
        </p:nvSpPr>
        <p:spPr>
          <a:xfrm>
            <a:off x="4568952"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02</a:t>
            </a:r>
            <a:endParaRPr lang="en-US" sz="1500" dirty="0"/>
          </a:p>
        </p:txBody>
      </p:sp>
      <p:sp>
        <p:nvSpPr>
          <p:cNvPr id="15" name="Text 12"/>
          <p:cNvSpPr/>
          <p:nvPr/>
        </p:nvSpPr>
        <p:spPr>
          <a:xfrm>
            <a:off x="4568952"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Control the view</a:t>
            </a:r>
            <a:endParaRPr lang="en-US" sz="2600" dirty="0"/>
          </a:p>
        </p:txBody>
      </p:sp>
      <p:sp>
        <p:nvSpPr>
          <p:cNvPr id="16" name="Text 13"/>
          <p:cNvSpPr/>
          <p:nvPr/>
        </p:nvSpPr>
        <p:spPr>
          <a:xfrm>
            <a:off x="4568952"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Manage the search query and sort key in the host.</a:t>
            </a:r>
            <a:endParaRPr lang="en-US" sz="2200" dirty="0"/>
          </a:p>
        </p:txBody>
      </p:sp>
      <p:sp>
        <p:nvSpPr>
          <p:cNvPr id="17" name="Shape 14"/>
          <p:cNvSpPr/>
          <p:nvPr/>
        </p:nvSpPr>
        <p:spPr>
          <a:xfrm>
            <a:off x="8132064" y="2560320"/>
            <a:ext cx="3480816" cy="3383280"/>
          </a:xfrm>
          <a:prstGeom prst="roundRect">
            <a:avLst>
              <a:gd name="adj" fmla="val 3243"/>
            </a:avLst>
          </a:prstGeom>
          <a:solidFill>
            <a:srgbClr val="17202C"/>
          </a:solidFill>
          <a:ln w="8890">
            <a:solidFill>
              <a:srgbClr val="33455D"/>
            </a:solidFill>
            <a:prstDash val="solid"/>
          </a:ln>
        </p:spPr>
      </p:sp>
      <p:sp>
        <p:nvSpPr>
          <p:cNvPr id="18" name="Text 15"/>
          <p:cNvSpPr/>
          <p:nvPr/>
        </p:nvSpPr>
        <p:spPr>
          <a:xfrm>
            <a:off x="8360664"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03</a:t>
            </a:r>
            <a:endParaRPr lang="en-US" sz="1500" dirty="0"/>
          </a:p>
        </p:txBody>
      </p:sp>
      <p:sp>
        <p:nvSpPr>
          <p:cNvPr id="19" name="Text 16"/>
          <p:cNvSpPr/>
          <p:nvPr/>
        </p:nvSpPr>
        <p:spPr>
          <a:xfrm>
            <a:off x="8360664"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Handle a task action</a:t>
            </a:r>
            <a:endParaRPr lang="en-US" sz="2600" dirty="0"/>
          </a:p>
        </p:txBody>
      </p:sp>
      <p:sp>
        <p:nvSpPr>
          <p:cNvPr id="20" name="Text 17"/>
          <p:cNvSpPr/>
          <p:nvPr/>
        </p:nvSpPr>
        <p:spPr>
          <a:xfrm>
            <a:off x="8360664"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Use the host adapter to create or update task data.</a:t>
            </a:r>
            <a:endParaRPr lang="en-US" sz="2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LIBRARY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Scheduled tasks</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lib-scheduled-tasks-07</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07</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Available customization</a:t>
            </a:r>
            <a:endParaRPr lang="en-US" sz="3600" dirty="0"/>
          </a:p>
        </p:txBody>
      </p:sp>
      <p:sp>
        <p:nvSpPr>
          <p:cNvPr id="8" name="Shape 5"/>
          <p:cNvSpPr/>
          <p:nvPr/>
        </p:nvSpPr>
        <p:spPr>
          <a:xfrm>
            <a:off x="548640" y="2560320"/>
            <a:ext cx="3480816" cy="3383280"/>
          </a:xfrm>
          <a:prstGeom prst="roundRect">
            <a:avLst>
              <a:gd name="adj" fmla="val 3243"/>
            </a:avLst>
          </a:prstGeom>
          <a:solidFill>
            <a:srgbClr val="17202C"/>
          </a:solidFill>
          <a:ln w="8890">
            <a:solidFill>
              <a:srgbClr val="33455D"/>
            </a:solidFill>
            <a:prstDash val="solid"/>
          </a:ln>
        </p:spPr>
      </p:sp>
      <p:sp>
        <p:nvSpPr>
          <p:cNvPr id="9" name="Text 6"/>
          <p:cNvSpPr/>
          <p:nvPr/>
        </p:nvSpPr>
        <p:spPr>
          <a:xfrm>
            <a:off x="777240"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01</a:t>
            </a:r>
            <a:endParaRPr lang="en-US" sz="1500" dirty="0"/>
          </a:p>
        </p:txBody>
      </p:sp>
      <p:sp>
        <p:nvSpPr>
          <p:cNvPr id="10" name="Text 7"/>
          <p:cNvSpPr/>
          <p:nvPr/>
        </p:nvSpPr>
        <p:spPr>
          <a:xfrm>
            <a:off x="777240"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List pagination</a:t>
            </a:r>
            <a:endParaRPr lang="en-US" sz="2600" dirty="0"/>
          </a:p>
        </p:txBody>
      </p:sp>
      <p:sp>
        <p:nvSpPr>
          <p:cNvPr id="11" name="Text 8"/>
          <p:cNvSpPr/>
          <p:nvPr/>
        </p:nvSpPr>
        <p:spPr>
          <a:xfrm>
            <a:off x="777240"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hasMore, isLoadingMore and onLoadMore support incremental loading.</a:t>
            </a:r>
            <a:endParaRPr lang="en-US" sz="2200" dirty="0"/>
          </a:p>
        </p:txBody>
      </p:sp>
      <p:sp>
        <p:nvSpPr>
          <p:cNvPr id="12" name="Shape 9"/>
          <p:cNvSpPr/>
          <p:nvPr/>
        </p:nvSpPr>
        <p:spPr>
          <a:xfrm>
            <a:off x="4340352" y="2560320"/>
            <a:ext cx="3480816" cy="3383280"/>
          </a:xfrm>
          <a:prstGeom prst="roundRect">
            <a:avLst>
              <a:gd name="adj" fmla="val 3243"/>
            </a:avLst>
          </a:prstGeom>
          <a:solidFill>
            <a:srgbClr val="17202C"/>
          </a:solidFill>
          <a:ln w="8890">
            <a:solidFill>
              <a:srgbClr val="33455D"/>
            </a:solidFill>
            <a:prstDash val="solid"/>
          </a:ln>
        </p:spPr>
      </p:sp>
      <p:sp>
        <p:nvSpPr>
          <p:cNvPr id="13" name="Text 10"/>
          <p:cNvSpPr/>
          <p:nvPr/>
        </p:nvSpPr>
        <p:spPr>
          <a:xfrm>
            <a:off x="4568952"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02</a:t>
            </a:r>
            <a:endParaRPr lang="en-US" sz="1500" dirty="0"/>
          </a:p>
        </p:txBody>
      </p:sp>
      <p:sp>
        <p:nvSpPr>
          <p:cNvPr id="14" name="Text 11"/>
          <p:cNvSpPr/>
          <p:nvPr/>
        </p:nvSpPr>
        <p:spPr>
          <a:xfrm>
            <a:off x="4568952"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Form and detail exports</a:t>
            </a:r>
            <a:endParaRPr lang="en-US" sz="2600" dirty="0"/>
          </a:p>
        </p:txBody>
      </p:sp>
      <p:sp>
        <p:nvSpPr>
          <p:cNvPr id="15" name="Text 12"/>
          <p:cNvSpPr/>
          <p:nvPr/>
        </p:nvSpPr>
        <p:spPr>
          <a:xfrm>
            <a:off x="4568952"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Create forms and task detail views are distinct public components.</a:t>
            </a:r>
            <a:endParaRPr lang="en-US" sz="2200" dirty="0"/>
          </a:p>
        </p:txBody>
      </p:sp>
      <p:sp>
        <p:nvSpPr>
          <p:cNvPr id="16" name="Shape 13"/>
          <p:cNvSpPr/>
          <p:nvPr/>
        </p:nvSpPr>
        <p:spPr>
          <a:xfrm>
            <a:off x="8132064" y="2560320"/>
            <a:ext cx="3480816" cy="3383280"/>
          </a:xfrm>
          <a:prstGeom prst="roundRect">
            <a:avLst>
              <a:gd name="adj" fmla="val 3243"/>
            </a:avLst>
          </a:prstGeom>
          <a:solidFill>
            <a:srgbClr val="17202C"/>
          </a:solidFill>
          <a:ln w="8890">
            <a:solidFill>
              <a:srgbClr val="33455D"/>
            </a:solidFill>
            <a:prstDash val="solid"/>
          </a:ln>
        </p:spPr>
      </p:sp>
      <p:sp>
        <p:nvSpPr>
          <p:cNvPr id="17" name="Text 14"/>
          <p:cNvSpPr/>
          <p:nvPr/>
        </p:nvSpPr>
        <p:spPr>
          <a:xfrm>
            <a:off x="8360664"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03</a:t>
            </a:r>
            <a:endParaRPr lang="en-US" sz="1500" dirty="0"/>
          </a:p>
        </p:txBody>
      </p:sp>
      <p:sp>
        <p:nvSpPr>
          <p:cNvPr id="18" name="Text 15"/>
          <p:cNvSpPr/>
          <p:nvPr/>
        </p:nvSpPr>
        <p:spPr>
          <a:xfrm>
            <a:off x="8360664"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Run status display</a:t>
            </a:r>
            <a:endParaRPr lang="en-US" sz="2600" dirty="0"/>
          </a:p>
        </p:txBody>
      </p:sp>
      <p:sp>
        <p:nvSpPr>
          <p:cNvPr id="19" name="Text 16"/>
          <p:cNvSpPr/>
          <p:nvPr/>
        </p:nvSpPr>
        <p:spPr>
          <a:xfrm>
            <a:off x="8360664"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The run-history list renders records supplied by the host.</a:t>
            </a:r>
            <a:endParaRPr lang="en-US" sz="2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LIBRARY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Scheduled tasks</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lib-scheduled-tasks-08</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08</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Find the integration and its checks</a:t>
            </a:r>
            <a:endParaRPr lang="en-US" sz="3600" dirty="0"/>
          </a:p>
        </p:txBody>
      </p:sp>
      <p:sp>
        <p:nvSpPr>
          <p:cNvPr id="8" name="Text 5"/>
          <p:cNvSpPr/>
          <p:nvPr/>
        </p:nvSpPr>
        <p:spPr>
          <a:xfrm>
            <a:off x="576072" y="1901952"/>
            <a:ext cx="10972800" cy="457200"/>
          </a:xfrm>
          <a:prstGeom prst="rect">
            <a:avLst/>
          </a:prstGeom>
          <a:noFill/>
          <a:ln/>
        </p:spPr>
        <p:txBody>
          <a:bodyPr wrap="square" lIns="0" tIns="0" rIns="0" bIns="0" rtlCol="0" anchor="t"/>
          <a:lstStyle/>
          <a:p>
            <a:pPr indent="0" marL="0">
              <a:buNone/>
            </a:pPr>
            <a:r>
              <a:rPr lang="en-US" sz="1700" dirty="0">
                <a:solidFill>
                  <a:srgbClr val="8EBCFF"/>
                </a:solidFill>
                <a:latin typeface="Arial" pitchFamily="34" charset="0"/>
                <a:ea typeface="Arial" pitchFamily="34" charset="-122"/>
                <a:cs typeface="Arial" pitchFamily="34" charset="-120"/>
              </a:rPr>
              <a:t>Existing tests are evidence of intended behavior; suite results are not claimed.</a:t>
            </a:r>
            <a:endParaRPr lang="en-US" sz="17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76072" y="2587752"/>
          <a:ext cx="11009376" cy="3246120"/>
        </p:xfrm>
        <a:graphic>
          <a:graphicData uri="http://schemas.openxmlformats.org/drawingml/2006/table">
            <a:tbl>
              <a:tblPr/>
              <a:tblGrid>
                <a:gridCol w="2468880"/>
                <a:gridCol w="8540496"/>
              </a:tblGrid>
              <a:tr h="685800">
                <a:tc>
                  <a:txBody>
                    <a:bodyPr/>
                    <a:lstStyle/>
                    <a:p>
                      <a:pPr indent="0" marL="0">
                        <a:buNone/>
                      </a:pPr>
                      <a:r>
                        <a:rPr lang="en-US" sz="2000" b="1" dirty="0">
                          <a:solidFill>
                            <a:srgbClr val="8EBCFF"/>
                          </a:solidFill>
                          <a:latin typeface="Arial" pitchFamily="34" charset="0"/>
                          <a:ea typeface="Arial" pitchFamily="34" charset="-122"/>
                          <a:cs typeface="Arial" pitchFamily="34" charset="-120"/>
                        </a:rPr>
                        <a:t>Evidence</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22324A"/>
                    </a:solidFill>
                  </a:tcPr>
                </a:tc>
                <a:tc>
                  <a:txBody>
                    <a:bodyPr/>
                    <a:lstStyle/>
                    <a:p>
                      <a:pPr indent="0" marL="0">
                        <a:buNone/>
                      </a:pPr>
                      <a:r>
                        <a:rPr lang="en-US" sz="2000" b="1" dirty="0">
                          <a:solidFill>
                            <a:srgbClr val="8EBCFF"/>
                          </a:solidFill>
                          <a:latin typeface="Arial" pitchFamily="34" charset="0"/>
                          <a:ea typeface="Arial" pitchFamily="34" charset="-122"/>
                          <a:cs typeface="Arial" pitchFamily="34" charset="-120"/>
                        </a:rPr>
                        <a:t>Where to look</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22324A"/>
                    </a:solidFill>
                  </a:tcPr>
                </a:tc>
              </a:tr>
              <a:tr h="685800">
                <a:tc>
                  <a:txBody>
                    <a:bodyPr/>
                    <a:lstStyle/>
                    <a:p>
                      <a:pPr indent="0" marL="0">
                        <a:buNone/>
                      </a:pPr>
                      <a:r>
                        <a:rPr lang="en-US" sz="2000" dirty="0">
                          <a:solidFill>
                            <a:srgbClr val="EDF2F7"/>
                          </a:solidFill>
                          <a:latin typeface="Arial" pitchFamily="34" charset="0"/>
                          <a:ea typeface="Arial" pitchFamily="34" charset="-122"/>
                          <a:cs typeface="Arial" pitchFamily="34" charset="-120"/>
                        </a:rPr>
                        <a:t>Real consumer</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c>
                  <a:txBody>
                    <a:bodyPr/>
                    <a:lstStyle/>
                    <a:p>
                      <a:pPr indent="0" marL="0">
                        <a:buNone/>
                      </a:pPr>
                      <a:r>
                        <a:rPr lang="en-US" sz="2000" dirty="0">
                          <a:solidFill>
                            <a:srgbClr val="EDF2F7"/>
                          </a:solidFill>
                          <a:latin typeface="Arial" pitchFamily="34" charset="0"/>
                          <a:ea typeface="Arial" pitchFamily="34" charset="-122"/>
                          <a:cs typeface="Arial" pitchFamily="34" charset="-120"/>
                        </a:rPr>
                        <a:t>chat/pages/ScheduledTaskDetailPage/ScheduledTaskDetailPage.tsx</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r>
              <a:tr h="685800">
                <a:tc>
                  <a:txBody>
                    <a:bodyPr/>
                    <a:lstStyle/>
                    <a:p>
                      <a:pPr indent="0" marL="0">
                        <a:buNone/>
                      </a:pPr>
                      <a:r>
                        <a:rPr lang="en-US" sz="2000" dirty="0">
                          <a:solidFill>
                            <a:srgbClr val="EDF2F7"/>
                          </a:solidFill>
                          <a:latin typeface="Arial" pitchFamily="34" charset="0"/>
                          <a:ea typeface="Arial" pitchFamily="34" charset="-122"/>
                          <a:cs typeface="Arial" pitchFamily="34" charset="-120"/>
                        </a:rPr>
                        <a:t>Test evidence</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c>
                  <a:txBody>
                    <a:bodyPr/>
                    <a:lstStyle/>
                    <a:p>
                      <a:pPr indent="0" marL="0">
                        <a:buNone/>
                      </a:pPr>
                      <a:r>
                        <a:rPr lang="en-US" sz="2000" dirty="0">
                          <a:solidFill>
                            <a:srgbClr val="EDF2F7"/>
                          </a:solidFill>
                          <a:latin typeface="Arial" pitchFamily="34" charset="0"/>
                          <a:ea typeface="Arial" pitchFamily="34" charset="-122"/>
                          <a:cs typeface="Arial" pitchFamily="34" charset="-120"/>
                        </a:rPr>
                        <a:t>highlights the matching substring of the title</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r>
              <a:tr h="685800">
                <a:tc>
                  <a:txBody>
                    <a:bodyPr/>
                    <a:lstStyle/>
                    <a:p>
                      <a:pPr indent="0" marL="0">
                        <a:buNone/>
                      </a:pPr>
                      <a:r>
                        <a:rPr lang="en-US" sz="2000" dirty="0">
                          <a:solidFill>
                            <a:srgbClr val="EDF2F7"/>
                          </a:solidFill>
                          <a:latin typeface="Arial" pitchFamily="34" charset="0"/>
                          <a:ea typeface="Arial" pitchFamily="34" charset="-122"/>
                          <a:cs typeface="Arial" pitchFamily="34" charset="-120"/>
                        </a:rPr>
                        <a:t>Test evidence</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c>
                  <a:txBody>
                    <a:bodyPr/>
                    <a:lstStyle/>
                    <a:p>
                      <a:pPr indent="0" marL="0">
                        <a:buNone/>
                      </a:pPr>
                      <a:r>
                        <a:rPr lang="en-US" sz="2000" dirty="0">
                          <a:solidFill>
                            <a:srgbClr val="EDF2F7"/>
                          </a:solidFill>
                          <a:latin typeface="Arial" pitchFamily="34" charset="0"/>
                          <a:ea typeface="Arial" pitchFamily="34" charset="-122"/>
                          <a:cs typeface="Arial" pitchFamily="34" charset="-120"/>
                        </a:rPr>
                        <a:t>renders the resolved model display name</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LIBRARY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Scheduled tasks</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lib-scheduled-tasks-09</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09</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Constraints that affect integration</a:t>
            </a:r>
            <a:endParaRPr lang="en-US" sz="3600" dirty="0"/>
          </a:p>
        </p:txBody>
      </p:sp>
      <p:sp>
        <p:nvSpPr>
          <p:cNvPr id="8" name="Shape 5"/>
          <p:cNvSpPr/>
          <p:nvPr/>
        </p:nvSpPr>
        <p:spPr>
          <a:xfrm>
            <a:off x="548640" y="2560320"/>
            <a:ext cx="3480816" cy="3383280"/>
          </a:xfrm>
          <a:prstGeom prst="roundRect">
            <a:avLst>
              <a:gd name="adj" fmla="val 3243"/>
            </a:avLst>
          </a:prstGeom>
          <a:solidFill>
            <a:srgbClr val="17202C"/>
          </a:solidFill>
          <a:ln w="8890">
            <a:solidFill>
              <a:srgbClr val="33455D"/>
            </a:solidFill>
            <a:prstDash val="solid"/>
          </a:ln>
        </p:spPr>
      </p:sp>
      <p:sp>
        <p:nvSpPr>
          <p:cNvPr id="9" name="Text 6"/>
          <p:cNvSpPr/>
          <p:nvPr/>
        </p:nvSpPr>
        <p:spPr>
          <a:xfrm>
            <a:off x="777240"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01</a:t>
            </a:r>
            <a:endParaRPr lang="en-US" sz="1500" dirty="0"/>
          </a:p>
        </p:txBody>
      </p:sp>
      <p:sp>
        <p:nvSpPr>
          <p:cNvPr id="10" name="Text 7"/>
          <p:cNvSpPr/>
          <p:nvPr/>
        </p:nvSpPr>
        <p:spPr>
          <a:xfrm>
            <a:off x="777240"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No task scheduler</a:t>
            </a:r>
            <a:endParaRPr lang="en-US" sz="2600" dirty="0"/>
          </a:p>
        </p:txBody>
      </p:sp>
      <p:sp>
        <p:nvSpPr>
          <p:cNvPr id="11" name="Text 8"/>
          <p:cNvSpPr/>
          <p:nvPr/>
        </p:nvSpPr>
        <p:spPr>
          <a:xfrm>
            <a:off x="777240"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Rendering a schedule does not execute work in the background.</a:t>
            </a:r>
            <a:endParaRPr lang="en-US" sz="2200" dirty="0"/>
          </a:p>
        </p:txBody>
      </p:sp>
      <p:sp>
        <p:nvSpPr>
          <p:cNvPr id="12" name="Shape 9"/>
          <p:cNvSpPr/>
          <p:nvPr/>
        </p:nvSpPr>
        <p:spPr>
          <a:xfrm>
            <a:off x="4340352" y="2560320"/>
            <a:ext cx="3480816" cy="3383280"/>
          </a:xfrm>
          <a:prstGeom prst="roundRect">
            <a:avLst>
              <a:gd name="adj" fmla="val 3243"/>
            </a:avLst>
          </a:prstGeom>
          <a:solidFill>
            <a:srgbClr val="17202C"/>
          </a:solidFill>
          <a:ln w="8890">
            <a:solidFill>
              <a:srgbClr val="33455D"/>
            </a:solidFill>
            <a:prstDash val="solid"/>
          </a:ln>
        </p:spPr>
      </p:sp>
      <p:sp>
        <p:nvSpPr>
          <p:cNvPr id="13" name="Text 10"/>
          <p:cNvSpPr/>
          <p:nvPr/>
        </p:nvSpPr>
        <p:spPr>
          <a:xfrm>
            <a:off x="4568952"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02</a:t>
            </a:r>
            <a:endParaRPr lang="en-US" sz="1500" dirty="0"/>
          </a:p>
        </p:txBody>
      </p:sp>
      <p:sp>
        <p:nvSpPr>
          <p:cNvPr id="14" name="Text 11"/>
          <p:cNvSpPr/>
          <p:nvPr/>
        </p:nvSpPr>
        <p:spPr>
          <a:xfrm>
            <a:off x="4568952"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Formatting stays outside</a:t>
            </a:r>
            <a:endParaRPr lang="en-US" sz="2600" dirty="0"/>
          </a:p>
        </p:txBody>
      </p:sp>
      <p:sp>
        <p:nvSpPr>
          <p:cNvPr id="15" name="Text 12"/>
          <p:cNvSpPr/>
          <p:nvPr/>
        </p:nvSpPr>
        <p:spPr>
          <a:xfrm>
            <a:off x="4568952"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Pass already-formatted labels and timestamps.</a:t>
            </a:r>
            <a:endParaRPr lang="en-US" sz="2200" dirty="0"/>
          </a:p>
        </p:txBody>
      </p:sp>
      <p:sp>
        <p:nvSpPr>
          <p:cNvPr id="16" name="Shape 13"/>
          <p:cNvSpPr/>
          <p:nvPr/>
        </p:nvSpPr>
        <p:spPr>
          <a:xfrm>
            <a:off x="8132064" y="2560320"/>
            <a:ext cx="3480816" cy="3383280"/>
          </a:xfrm>
          <a:prstGeom prst="roundRect">
            <a:avLst>
              <a:gd name="adj" fmla="val 3243"/>
            </a:avLst>
          </a:prstGeom>
          <a:solidFill>
            <a:srgbClr val="17202C"/>
          </a:solidFill>
          <a:ln w="8890">
            <a:solidFill>
              <a:srgbClr val="33455D"/>
            </a:solidFill>
            <a:prstDash val="solid"/>
          </a:ln>
        </p:spPr>
      </p:sp>
      <p:sp>
        <p:nvSpPr>
          <p:cNvPr id="17" name="Text 14"/>
          <p:cNvSpPr/>
          <p:nvPr/>
        </p:nvSpPr>
        <p:spPr>
          <a:xfrm>
            <a:off x="8360664"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03</a:t>
            </a:r>
            <a:endParaRPr lang="en-US" sz="1500" dirty="0"/>
          </a:p>
        </p:txBody>
      </p:sp>
      <p:sp>
        <p:nvSpPr>
          <p:cNvPr id="18" name="Text 15"/>
          <p:cNvSpPr/>
          <p:nvPr/>
        </p:nvSpPr>
        <p:spPr>
          <a:xfrm>
            <a:off x="8360664"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Filter intentionally</a:t>
            </a:r>
            <a:endParaRPr lang="en-US" sz="2600" dirty="0"/>
          </a:p>
        </p:txBody>
      </p:sp>
      <p:sp>
        <p:nvSpPr>
          <p:cNvPr id="19" name="Text 16"/>
          <p:cNvSpPr/>
          <p:nvPr/>
        </p:nvSpPr>
        <p:spPr>
          <a:xfrm>
            <a:off x="8360664"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The controlled search/sort contract requires host updates.</a:t>
            </a:r>
            <a:endParaRPr lang="en-US" sz="2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AI DIAL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Scheduled tasks</dc:title>
  <dc:subject>Render task lists, forms and run history from host-owned schedules.</dc:subject>
  <dc:creator>AI DIAL technical knowledge sharing</dc:creator>
  <cp:lastModifiedBy>AI DIAL technical knowledge sharing</cp:lastModifiedBy>
  <cp:revision>1</cp:revision>
  <dcterms:created xsi:type="dcterms:W3CDTF">2026-09-21T18:56:19Z</dcterms:created>
  <dcterms:modified xsi:type="dcterms:W3CDTF">2026-09-21T18:56:19Z</dcterms:modified>
</cp:coreProperties>
</file>