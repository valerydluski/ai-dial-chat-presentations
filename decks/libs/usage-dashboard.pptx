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lib-usage-dashboard-01
This session explains explain cost and model limits using normalized display data. The library is a local private workspace package at libs/usage-dashboard. Its manifest, source exports, tests and actual consumers were inspected. Package publication has not been verified; use the workspace integration shown here.
Sources:
libs/usage-dashboard/README.md:1-425
libs/usage-dashboard/src/index.ts:1-43
libs/usage-dashboard/package.json:1-42
libs/usage-dashboard/src/components/UsageLimitCard/UsageLimitCard.tsx:26-191 — UsageLimitCard
libs/usage-dashboard/src/models/usage-limit-card-props.ts:145-152 — UsageLimitCardProps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lib-usage-dashboard-02
Start with a concrete caller need. Inspect a budget: Display used, remaining and total amounts. Compare periods: Show the current UTC day, week and month. Find constraints: Compare model-token and overall cost limit statuses. These scenarios describe integration supported by the current public surface; they do not assert measured performance or production certification.
Sources:
libs/usage-dashboard/README.md:1-425
libs/usage-dashboard/src/index.ts:1-43
libs/usage-dashboard/package.json:1-42
libs/usage-dashboard/src/components/UsageLimitCard/UsageLimitCard.tsx:26-191 — UsageLimitCard
libs/usage-dashboard/src/models/usage-limit-card-props.ts:145-152 — UsageLimitCardProps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lib-usage-dashboard-03
The library owns Usage cards/tables plus exported mapping utilities. The host owns Fetching usage, choosing locale/timezone formatting and passing resolved display values.  The arrows show data/callback direction, not an implicit network request. The documented isolation rules and known implementation deviations are listed in qa-report.md.
Sources:
libs/usage-dashboard/README.md:1-425
libs/usage-dashboard/src/index.ts:1-43
libs/usage-dashboard/package.json:1-42
libs/usage-dashboard/src/components/UsageLimitCard/UsageLimitCard.tsx:26-191 — UsageLimitCard
libs/usage-dashboard/src/models/usage-limit-card-props.ts:145-152 — UsageLimitCardProps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lib-usage-dashboard-04
These are selected public symbols or props, not a complete API listing. Required versus optional props come from the TypeScript checker over the current source. All declarations, including the source file and line range, are retained in content/api-index.md and the per-project research JSON. 
Sources:
libs/usage-dashboard/README.md:1-425
libs/usage-dashboard/src/index.ts:1-43
libs/usage-dashboard/package.json:1-42
libs/usage-dashboard/src/components/UsageLimitCard/UsageLimitCard.tsx:26-191 — UsageLimitCard
libs/usage-dashboard/src/models/usage-limit-card-props.ts:145-152 — UsageLimitCardProps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lib-usage-dashboard-05
Run this example in the existing React 19 workspace using the package source aliases and its declared peers. For browser-only modules use a browser host. Full imports, types and required props are in examples/usage-dashboard.tsx. The stylesheet import must be loaded by the host. Host parameters in the complete example are typed integration requirements, not hidden globals. Expected behavior: Display used, remaining and total amounts. Backend-dependent examples require a running configured service; the bundle type-checks them but does not call production services.
Sources:
libs/usage-dashboard/README.md:1-425
libs/usage-dashboard/src/index.ts:1-43
libs/usage-dashboard/package.json:1-42
libs/usage-dashboard/src/components/UsageLimitCard/UsageLimitCard.tsx:26-191 — UsageLimitCard
libs/usage-dashboard/src/models/usage-limit-card-props.ts:145-152 — UsageLimitCardProps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lib-usage-dashboard-10
This is a real browser screenshot of the standalone demo in demo/main.tsx, captured by src/capture-demo.mjs. It renders SettingsPanel, UsageLimitCard and StagesPanel directly from the recorded source snapshot with local stylesheet dependencies. It is an illustrative host, not a screenshot of a deployed DIAL product. All data is synthetic and no backend request is made. Run the Vite command in examples/README.md, then the capture script. Expected behavior: Usage starts selected; selecting Profile updates the controlled active row. The amount and stage remain demo data. The host explicitly supplies dark-theme color overrides. Desktop and phone captures are retained under assets/.
Sources:
libs/settings-panel/src/components/SettingsPanel/SettingsPanel.tsx:1-170
libs/usage-dashboard/src/components/UsageLimitCard/UsageLimitCard.tsx:1-191
libs/conversation-stages/src/components/StagesPanel/StagesPanel.tsx:1-229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lib-usage-dashboard-06
Follow this concrete integration sequence. Prepare usage data: The host maps raw usage to the card’s normalized data. Format the values: Supply amount labels, percentage, status and optional reset text. Render the summary: The card presents the values and accessible progress text. The complete typed module in examples/usage-dashboard.tsx shows the required imports and host inputs. Application-owned network, routing and persistence behavior must be supplied by the caller.
Sources:
libs/usage-dashboard/README.md:1-425
libs/usage-dashboard/src/index.ts:1-43
libs/usage-dashboard/package.json:1-42
libs/usage-dashboard/src/components/UsageLimitCard/UsageLimitCard.tsx:26-191 — UsageLimitCard
libs/usage-dashboard/src/models/usage-limit-card-props.ts:145-152 — UsageLimitCardProps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lib-usage-dashboard-07
Customization comes from the current exports and prop declarations. Semantic states: UsageLimitStatus distinguishes normal, warning and reached states. Accessible progress: Supply preformatted progressAriaLabel and reset text. Mapping exports: mapUsageDataToDashboard and model-limit mappers are public. For UI, import the package stylesheet and use documented props or stable public classes. A component-level color override and inherited theme tokens are different levels of control. Locale strings and direction should be supplied by the host; do not introduce app i18n into a reusable library.
Sources:
libs/usage-dashboard/README.md:1-425
libs/usage-dashboard/src/index.ts:1-43
libs/usage-dashboard/package.json:1-42
libs/usage-dashboard/src/components/UsageLimitCard/UsageLimitCard.tsx:26-191 — UsageLimitCard
libs/usage-dashboard/src/models/usage-limit-card-props.ts:145-152 — UsageLimitCardProps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lib-usage-dashboard-08
Actual consumers: apps/chat/src/pages/SettingsPage/UsageTab/UsageTab.tsx; apps/chat/src/utils/usage-reset-time.ts. Existing test evidence: [{"file": "libs/usage-dashboard/src/components/UsageLimitCard/tests/UsageLimitCard.spec.tsx", "assertions": ["UsageLimitCard", "renders the title and the prominent used amount with its ", "renders the ", "renders the running-low badge and warning accent at 90% used", "renders the limit-reached badge and error accent at 100% used", "renders the remaining-amount and used-percent captions below the progress bar", "shows only the used amount, with no progress bar, ratio, or badge, when unlimited", "clamps the visual progress fill and the visible percent label at 100%, while the accessible value text keeps the real percentage", "names the progress bar after the card title", "renders long localized labels without breaking the layout query", "exposes the card as an accessible group named with the title and period description", "keeps the same accessible name and value text under an RTL ancestor", "reset line", "renders the reset label in a &lt;time&gt; carrying the original UTC instant", "carries the spoken form on a visually-hidden sibling, not on the &lt;time&gt;"]}, {"file": "libs/usage-dashboard/src/components/ModelLimitsSection/tests/ModelLimitsSection.spec.tsx", "assertions": ["ModelLimitsSection", "renders the row count separately in the section heading", "renders the empty state while preserving the section shell", "renders exactly the fixed comparison headers in order", "renders one semantic row with Item, three period cells, and Status", "vertically centers desktop row content without changing horizontal alignment", "renders token progress followed by attributed Cost in every period cell", "renders unavailable Cost as a value without a visible Cost label", "renders unlimited and unavailable token states without progress bars", "clamps progress visually while retaining the real accessible value", "renders rows in supplied order with avatar fallback and accessible names", "keeps long identity content constrained inside the Item cell", "uses one responsive semantic subtree under an RTL ancestor", "renders accessible overall Cost indicators for affected period headers", "period header reset line"]}]. Reproduce project checks from the repository root with npm exec nx run usage-dashboard:typecheck and the available test/lint targets. This documentation task does not rebuild or modify the application repository. The bundle checks its own examples separately. Existing test evidence includes: renders the title, used amount and "used of" caption.
Sources:
libs/usage-dashboard/README.md:1-425
libs/usage-dashboard/src/index.ts:1-43
libs/usage-dashboard/package.json:1-42
libs/usage-dashboard/src/components/UsageLimitCard/UsageLimitCard.tsx:26-191 — UsageLimitCard
libs/usage-dashboard/src/models/usage-limit-card-props.ts:145-152 — UsageLimitCardProps
apps/chat/src/pages/SettingsPage/UsageTab/UsageTab.tsx:1-264
libs/usage-dashboard/src/components/UsageLimitCard/tests/UsageLimitCard.spec.tsx:1-267
libs/usage-dashboard/src/components/ModelLimitsSection/tests/ModelLimitsSection.spec.tsx:1-517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ID: lib-usage-dashboard-09
Review these constraints before choosing the library. Calendar periods: Today/week/month are calendar windows, not rolling durations. Separate component and helper: Cards consume display data; exported helpers do perform mapping. Isolation discrepancy: Mapping source imports generated API DTOs outside the documented exception. The package is private in this snapshot. The presence of build/publish tooling is not evidence that a compatible release is available from a registry. For externally packed installations, inspect the repository publish tooling and host-install matrix and verify the resulting artifact separately.
Sources:
libs/usage-dashboard/README.md:1-425
libs/usage-dashboard/src/index.ts:1-43
libs/usage-dashboard/package.json:1-42
libs/usage-dashboard/src/components/UsageLimitCard/UsageLimitCard.tsx:26-191 — UsageLimitCard
libs/usage-dashboard/src/models/usage-limit-card-props.ts:145-152 — UsageLimitCardProps
AGENTS.md:1-176
Snapshot: 23fa39459d8971c10d5bd1c69734e61b124d249b; analysis 2026-09-21T18:14:40.584272+00:00. Working tree state is recorded in 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lib-usage-dashboard-01</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01</a:t>
            </a:r>
            <a:endParaRPr lang="en-US" sz="1200" dirty="0"/>
          </a:p>
        </p:txBody>
      </p:sp>
      <p:sp>
        <p:nvSpPr>
          <p:cNvPr id="7" name="Text 4"/>
          <p:cNvSpPr/>
          <p:nvPr/>
        </p:nvSpPr>
        <p:spPr>
          <a:xfrm>
            <a:off x="594360" y="1508760"/>
            <a:ext cx="10698480" cy="1371600"/>
          </a:xfrm>
          <a:prstGeom prst="rect">
            <a:avLst/>
          </a:prstGeom>
          <a:noFill/>
          <a:ln/>
        </p:spPr>
        <p:txBody>
          <a:bodyPr wrap="square" lIns="0" tIns="0" rIns="0" bIns="0" rtlCol="0" anchor="t"/>
          <a:lstStyle/>
          <a:p>
            <a:pPr indent="0" marL="0">
              <a:buNone/>
            </a:pPr>
            <a:r>
              <a:rPr lang="en-US" sz="4800" b="1" dirty="0">
                <a:solidFill>
                  <a:srgbClr val="EDF2F7"/>
                </a:solidFill>
                <a:latin typeface="Arial" pitchFamily="34" charset="0"/>
                <a:ea typeface="Arial" pitchFamily="34" charset="-122"/>
                <a:cs typeface="Arial" pitchFamily="34" charset="-120"/>
              </a:rPr>
              <a:t>Usage dashboard</a:t>
            </a:r>
            <a:endParaRPr lang="en-US" sz="4800" dirty="0"/>
          </a:p>
        </p:txBody>
      </p:sp>
      <p:sp>
        <p:nvSpPr>
          <p:cNvPr id="8" name="Text 5"/>
          <p:cNvSpPr/>
          <p:nvPr/>
        </p:nvSpPr>
        <p:spPr>
          <a:xfrm>
            <a:off x="621792" y="3145536"/>
            <a:ext cx="10332720" cy="1051560"/>
          </a:xfrm>
          <a:prstGeom prst="rect">
            <a:avLst/>
          </a:prstGeom>
          <a:noFill/>
          <a:ln/>
        </p:spPr>
        <p:txBody>
          <a:bodyPr wrap="square" lIns="0" tIns="0" rIns="0" bIns="0" rtlCol="0" anchor="t"/>
          <a:lstStyle/>
          <a:p>
            <a:pPr indent="0" marL="0">
              <a:buNone/>
            </a:pPr>
            <a:r>
              <a:rPr lang="en-US" sz="2800" dirty="0">
                <a:solidFill>
                  <a:srgbClr val="8EBCFF"/>
                </a:solidFill>
                <a:latin typeface="Arial" pitchFamily="34" charset="0"/>
                <a:ea typeface="Arial" pitchFamily="34" charset="-122"/>
                <a:cs typeface="Arial" pitchFamily="34" charset="-120"/>
              </a:rPr>
              <a:t>Explain cost and model limits using normalized display data.</a:t>
            </a:r>
            <a:endParaRPr lang="en-US" sz="2800" dirty="0"/>
          </a:p>
        </p:txBody>
      </p:sp>
      <p:sp>
        <p:nvSpPr>
          <p:cNvPr id="9" name="Shape 6"/>
          <p:cNvSpPr/>
          <p:nvPr/>
        </p:nvSpPr>
        <p:spPr>
          <a:xfrm>
            <a:off x="621792" y="4754880"/>
            <a:ext cx="3474720" cy="640080"/>
          </a:xfrm>
          <a:prstGeom prst="roundRect">
            <a:avLst>
              <a:gd name="adj" fmla="val 17143"/>
            </a:avLst>
          </a:prstGeom>
          <a:solidFill>
            <a:srgbClr val="17202C"/>
          </a:solidFill>
          <a:ln w="8890">
            <a:solidFill>
              <a:srgbClr val="33455D"/>
            </a:solidFill>
            <a:prstDash val="solid"/>
          </a:ln>
        </p:spPr>
      </p:sp>
      <p:sp>
        <p:nvSpPr>
          <p:cNvPr id="10" name="Text 7"/>
          <p:cNvSpPr/>
          <p:nvPr/>
        </p:nvSpPr>
        <p:spPr>
          <a:xfrm>
            <a:off x="82296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Problem and boundary</a:t>
            </a:r>
            <a:endParaRPr lang="en-US" sz="1600" dirty="0"/>
          </a:p>
        </p:txBody>
      </p:sp>
      <p:sp>
        <p:nvSpPr>
          <p:cNvPr id="11" name="Shape 8"/>
          <p:cNvSpPr/>
          <p:nvPr/>
        </p:nvSpPr>
        <p:spPr>
          <a:xfrm>
            <a:off x="4370832" y="4754880"/>
            <a:ext cx="3474720" cy="640080"/>
          </a:xfrm>
          <a:prstGeom prst="roundRect">
            <a:avLst>
              <a:gd name="adj" fmla="val 17143"/>
            </a:avLst>
          </a:prstGeom>
          <a:solidFill>
            <a:srgbClr val="17202C"/>
          </a:solidFill>
          <a:ln w="8890">
            <a:solidFill>
              <a:srgbClr val="33455D"/>
            </a:solidFill>
            <a:prstDash val="solid"/>
          </a:ln>
        </p:spPr>
      </p:sp>
      <p:sp>
        <p:nvSpPr>
          <p:cNvPr id="12" name="Text 9"/>
          <p:cNvSpPr/>
          <p:nvPr/>
        </p:nvSpPr>
        <p:spPr>
          <a:xfrm>
            <a:off x="457200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Public contract</a:t>
            </a:r>
            <a:endParaRPr lang="en-US" sz="1600" dirty="0"/>
          </a:p>
        </p:txBody>
      </p:sp>
      <p:sp>
        <p:nvSpPr>
          <p:cNvPr id="13" name="Shape 10"/>
          <p:cNvSpPr/>
          <p:nvPr/>
        </p:nvSpPr>
        <p:spPr>
          <a:xfrm>
            <a:off x="8119872" y="4754880"/>
            <a:ext cx="3474720" cy="640080"/>
          </a:xfrm>
          <a:prstGeom prst="roundRect">
            <a:avLst>
              <a:gd name="adj" fmla="val 17143"/>
            </a:avLst>
          </a:prstGeom>
          <a:solidFill>
            <a:srgbClr val="17202C"/>
          </a:solidFill>
          <a:ln w="8890">
            <a:solidFill>
              <a:srgbClr val="33455D"/>
            </a:solidFill>
            <a:prstDash val="solid"/>
          </a:ln>
        </p:spPr>
      </p:sp>
      <p:sp>
        <p:nvSpPr>
          <p:cNvPr id="14" name="Text 11"/>
          <p:cNvSpPr/>
          <p:nvPr/>
        </p:nvSpPr>
        <p:spPr>
          <a:xfrm>
            <a:off x="8321040" y="4956048"/>
            <a:ext cx="3063240" cy="219456"/>
          </a:xfrm>
          <a:prstGeom prst="rect">
            <a:avLst/>
          </a:prstGeom>
          <a:noFill/>
          <a:ln/>
        </p:spPr>
        <p:txBody>
          <a:bodyPr wrap="square" lIns="0" tIns="0" rIns="0" bIns="0" rtlCol="0" anchor="t"/>
          <a:lstStyle/>
          <a:p>
            <a:pPr indent="0" marL="0">
              <a:buNone/>
            </a:pPr>
            <a:r>
              <a:rPr lang="en-US" sz="1600" dirty="0">
                <a:solidFill>
                  <a:srgbClr val="EDF2F7"/>
                </a:solidFill>
                <a:latin typeface="Arial" pitchFamily="34" charset="0"/>
                <a:ea typeface="Arial" pitchFamily="34" charset="-122"/>
                <a:cs typeface="Arial" pitchFamily="34" charset="-120"/>
              </a:rPr>
              <a:t>Working integration</a:t>
            </a:r>
            <a:endParaRPr lang="en-US" sz="1600" dirty="0"/>
          </a:p>
        </p:txBody>
      </p:sp>
      <p:sp>
        <p:nvSpPr>
          <p:cNvPr id="15" name="Text 12"/>
          <p:cNvSpPr/>
          <p:nvPr/>
        </p:nvSpPr>
        <p:spPr>
          <a:xfrm>
            <a:off x="621792" y="5687568"/>
            <a:ext cx="10607040" cy="292608"/>
          </a:xfrm>
          <a:prstGeom prst="rect">
            <a:avLst/>
          </a:prstGeom>
          <a:noFill/>
          <a:ln/>
        </p:spPr>
        <p:txBody>
          <a:bodyPr wrap="square" lIns="0" tIns="0" rIns="0" bIns="0" rtlCol="0" anchor="t"/>
          <a:lstStyle/>
          <a:p>
            <a:pPr indent="0" marL="0">
              <a:buNone/>
            </a:pPr>
            <a:r>
              <a:rPr lang="en-US" sz="1400" dirty="0">
                <a:solidFill>
                  <a:srgbClr val="BCC9DA"/>
                </a:solidFill>
                <a:latin typeface="Arial" pitchFamily="34" charset="0"/>
                <a:ea typeface="Arial" pitchFamily="34" charset="-122"/>
                <a:cs typeface="Arial" pitchFamily="34" charset="-120"/>
              </a:rPr>
              <a:t>@epam/ai-dial-usage-dashboard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lib-usage-dashboard-02</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02</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When this library is useful</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Explain cost and model limits using normalized display data.</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Inspect a budget</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Display used, remaining and total amounts.</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Compare periods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Show the current UTC day, week and month.</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Find constraints</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Compare model-token and overall cost limit statuses.</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lib-usage-dashboard-03</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03</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Follow the ownership boundary</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Inputs and effects stay explicit.</a:t>
            </a:r>
            <a:endParaRPr lang="en-US" sz="1700" dirty="0"/>
          </a:p>
        </p:txBody>
      </p:sp>
      <p:sp>
        <p:nvSpPr>
          <p:cNvPr id="9" name="Shape 6"/>
          <p:cNvSpPr/>
          <p:nvPr/>
        </p:nvSpPr>
        <p:spPr>
          <a:xfrm>
            <a:off x="548640" y="2862072"/>
            <a:ext cx="2532888" cy="2039112"/>
          </a:xfrm>
          <a:prstGeom prst="roundRect">
            <a:avLst>
              <a:gd name="adj" fmla="val 5381"/>
            </a:avLst>
          </a:prstGeom>
          <a:solidFill>
            <a:srgbClr val="17202C"/>
          </a:solidFill>
          <a:ln w="8890">
            <a:solidFill>
              <a:srgbClr val="33455D"/>
            </a:solidFill>
            <a:prstDash val="solid"/>
          </a:ln>
        </p:spPr>
      </p:sp>
      <p:sp>
        <p:nvSpPr>
          <p:cNvPr id="10" name="Text 7"/>
          <p:cNvSpPr/>
          <p:nvPr/>
        </p:nvSpPr>
        <p:spPr>
          <a:xfrm>
            <a:off x="749808"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01</a:t>
            </a:r>
            <a:endParaRPr lang="en-US" sz="1600" dirty="0"/>
          </a:p>
        </p:txBody>
      </p:sp>
      <p:sp>
        <p:nvSpPr>
          <p:cNvPr id="11" name="Text 8"/>
          <p:cNvSpPr/>
          <p:nvPr/>
        </p:nvSpPr>
        <p:spPr>
          <a:xfrm>
            <a:off x="749808"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Host usage API</a:t>
            </a:r>
            <a:endParaRPr lang="en-US" sz="2100" dirty="0"/>
          </a:p>
        </p:txBody>
      </p:sp>
      <p:sp>
        <p:nvSpPr>
          <p:cNvPr id="12" name="Text 9"/>
          <p:cNvSpPr/>
          <p:nvPr/>
        </p:nvSpPr>
        <p:spPr>
          <a:xfrm>
            <a:off x="749808"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Raw counters and limits</a:t>
            </a:r>
            <a:endParaRPr lang="en-US" sz="1700" dirty="0"/>
          </a:p>
        </p:txBody>
      </p:sp>
      <p:sp>
        <p:nvSpPr>
          <p:cNvPr id="13" name="Shape 10"/>
          <p:cNvSpPr/>
          <p:nvPr/>
        </p:nvSpPr>
        <p:spPr>
          <a:xfrm>
            <a:off x="3118104" y="3776472"/>
            <a:ext cx="237744" cy="0"/>
          </a:xfrm>
          <a:prstGeom prst="line">
            <a:avLst/>
          </a:prstGeom>
          <a:noFill/>
          <a:ln w="21590">
            <a:solidFill>
              <a:srgbClr val="8EBCFF"/>
            </a:solidFill>
            <a:prstDash val="solid"/>
            <a:headEnd type="none"/>
            <a:tailEnd type="triangle"/>
          </a:ln>
        </p:spPr>
      </p:sp>
      <p:sp>
        <p:nvSpPr>
          <p:cNvPr id="14" name="Shape 11"/>
          <p:cNvSpPr/>
          <p:nvPr/>
        </p:nvSpPr>
        <p:spPr>
          <a:xfrm>
            <a:off x="3392424" y="2862072"/>
            <a:ext cx="2532888" cy="2039112"/>
          </a:xfrm>
          <a:prstGeom prst="roundRect">
            <a:avLst>
              <a:gd name="adj" fmla="val 5381"/>
            </a:avLst>
          </a:prstGeom>
          <a:solidFill>
            <a:srgbClr val="17202C"/>
          </a:solidFill>
          <a:ln w="8890">
            <a:solidFill>
              <a:srgbClr val="33455D"/>
            </a:solidFill>
            <a:prstDash val="solid"/>
          </a:ln>
        </p:spPr>
      </p:sp>
      <p:sp>
        <p:nvSpPr>
          <p:cNvPr id="15" name="Text 12"/>
          <p:cNvSpPr/>
          <p:nvPr/>
        </p:nvSpPr>
        <p:spPr>
          <a:xfrm>
            <a:off x="3593592"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02</a:t>
            </a:r>
            <a:endParaRPr lang="en-US" sz="1600" dirty="0"/>
          </a:p>
        </p:txBody>
      </p:sp>
      <p:sp>
        <p:nvSpPr>
          <p:cNvPr id="16" name="Text 13"/>
          <p:cNvSpPr/>
          <p:nvPr/>
        </p:nvSpPr>
        <p:spPr>
          <a:xfrm>
            <a:off x="3593592"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Mapping helpers</a:t>
            </a:r>
            <a:endParaRPr lang="en-US" sz="2100" dirty="0"/>
          </a:p>
        </p:txBody>
      </p:sp>
      <p:sp>
        <p:nvSpPr>
          <p:cNvPr id="17" name="Text 14"/>
          <p:cNvSpPr/>
          <p:nvPr/>
        </p:nvSpPr>
        <p:spPr>
          <a:xfrm>
            <a:off x="3593592"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Display rows and labels</a:t>
            </a:r>
            <a:endParaRPr lang="en-US" sz="1700" dirty="0"/>
          </a:p>
        </p:txBody>
      </p:sp>
      <p:sp>
        <p:nvSpPr>
          <p:cNvPr id="18" name="Shape 15"/>
          <p:cNvSpPr/>
          <p:nvPr/>
        </p:nvSpPr>
        <p:spPr>
          <a:xfrm>
            <a:off x="5961888" y="3776472"/>
            <a:ext cx="237744" cy="0"/>
          </a:xfrm>
          <a:prstGeom prst="line">
            <a:avLst/>
          </a:prstGeom>
          <a:noFill/>
          <a:ln w="21590">
            <a:solidFill>
              <a:srgbClr val="8EBCFF"/>
            </a:solidFill>
            <a:prstDash val="solid"/>
            <a:headEnd type="none"/>
            <a:tailEnd type="triangle"/>
          </a:ln>
        </p:spPr>
      </p:sp>
      <p:sp>
        <p:nvSpPr>
          <p:cNvPr id="19" name="Shape 16"/>
          <p:cNvSpPr/>
          <p:nvPr/>
        </p:nvSpPr>
        <p:spPr>
          <a:xfrm>
            <a:off x="6236208" y="2862072"/>
            <a:ext cx="2532888" cy="2039112"/>
          </a:xfrm>
          <a:prstGeom prst="roundRect">
            <a:avLst>
              <a:gd name="adj" fmla="val 5381"/>
            </a:avLst>
          </a:prstGeom>
          <a:solidFill>
            <a:srgbClr val="17202C"/>
          </a:solidFill>
          <a:ln w="8890">
            <a:solidFill>
              <a:srgbClr val="33455D"/>
            </a:solidFill>
            <a:prstDash val="solid"/>
          </a:ln>
        </p:spPr>
      </p:sp>
      <p:sp>
        <p:nvSpPr>
          <p:cNvPr id="20" name="Text 17"/>
          <p:cNvSpPr/>
          <p:nvPr/>
        </p:nvSpPr>
        <p:spPr>
          <a:xfrm>
            <a:off x="6437376"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03</a:t>
            </a:r>
            <a:endParaRPr lang="en-US" sz="1600" dirty="0"/>
          </a:p>
        </p:txBody>
      </p:sp>
      <p:sp>
        <p:nvSpPr>
          <p:cNvPr id="21" name="Text 18"/>
          <p:cNvSpPr/>
          <p:nvPr/>
        </p:nvSpPr>
        <p:spPr>
          <a:xfrm>
            <a:off x="6437376"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Usage dashboard</a:t>
            </a:r>
            <a:endParaRPr lang="en-US" sz="2100" dirty="0"/>
          </a:p>
        </p:txBody>
      </p:sp>
      <p:sp>
        <p:nvSpPr>
          <p:cNvPr id="22" name="Text 19"/>
          <p:cNvSpPr/>
          <p:nvPr/>
        </p:nvSpPr>
        <p:spPr>
          <a:xfrm>
            <a:off x="6437376"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Cards and model table</a:t>
            </a:r>
            <a:endParaRPr lang="en-US" sz="1700" dirty="0"/>
          </a:p>
        </p:txBody>
      </p:sp>
      <p:sp>
        <p:nvSpPr>
          <p:cNvPr id="23" name="Shape 20"/>
          <p:cNvSpPr/>
          <p:nvPr/>
        </p:nvSpPr>
        <p:spPr>
          <a:xfrm>
            <a:off x="8805672" y="3776472"/>
            <a:ext cx="237744" cy="0"/>
          </a:xfrm>
          <a:prstGeom prst="line">
            <a:avLst/>
          </a:prstGeom>
          <a:noFill/>
          <a:ln w="21590">
            <a:solidFill>
              <a:srgbClr val="8EBCFF"/>
            </a:solidFill>
            <a:prstDash val="solid"/>
            <a:headEnd type="none"/>
            <a:tailEnd type="triangle"/>
          </a:ln>
        </p:spPr>
      </p:sp>
      <p:sp>
        <p:nvSpPr>
          <p:cNvPr id="24" name="Shape 21"/>
          <p:cNvSpPr/>
          <p:nvPr/>
        </p:nvSpPr>
        <p:spPr>
          <a:xfrm>
            <a:off x="9079992" y="2862072"/>
            <a:ext cx="2532888" cy="2039112"/>
          </a:xfrm>
          <a:prstGeom prst="roundRect">
            <a:avLst>
              <a:gd name="adj" fmla="val 5381"/>
            </a:avLst>
          </a:prstGeom>
          <a:solidFill>
            <a:srgbClr val="17202C"/>
          </a:solidFill>
          <a:ln w="8890">
            <a:solidFill>
              <a:srgbClr val="33455D"/>
            </a:solidFill>
            <a:prstDash val="solid"/>
          </a:ln>
        </p:spPr>
      </p:sp>
      <p:sp>
        <p:nvSpPr>
          <p:cNvPr id="25" name="Text 22"/>
          <p:cNvSpPr/>
          <p:nvPr/>
        </p:nvSpPr>
        <p:spPr>
          <a:xfrm>
            <a:off x="9281160" y="3035808"/>
            <a:ext cx="2130552" cy="292608"/>
          </a:xfrm>
          <a:prstGeom prst="rect">
            <a:avLst/>
          </a:prstGeom>
          <a:noFill/>
          <a:ln/>
        </p:spPr>
        <p:txBody>
          <a:bodyPr wrap="square" lIns="0" tIns="0" rIns="0" bIns="0" rtlCol="0" anchor="t"/>
          <a:lstStyle/>
          <a:p>
            <a:pPr indent="0" marL="0">
              <a:buNone/>
            </a:pPr>
            <a:r>
              <a:rPr lang="en-US" sz="1600" dirty="0">
                <a:solidFill>
                  <a:srgbClr val="8EBCFF"/>
                </a:solidFill>
                <a:latin typeface="Arial" pitchFamily="34" charset="0"/>
                <a:ea typeface="Arial" pitchFamily="34" charset="-122"/>
                <a:cs typeface="Arial" pitchFamily="34" charset="-120"/>
              </a:rPr>
              <a:t>04</a:t>
            </a:r>
            <a:endParaRPr lang="en-US" sz="1600" dirty="0"/>
          </a:p>
        </p:txBody>
      </p:sp>
      <p:sp>
        <p:nvSpPr>
          <p:cNvPr id="26" name="Text 23"/>
          <p:cNvSpPr/>
          <p:nvPr/>
        </p:nvSpPr>
        <p:spPr>
          <a:xfrm>
            <a:off x="9281160" y="3465576"/>
            <a:ext cx="2130552" cy="621792"/>
          </a:xfrm>
          <a:prstGeom prst="rect">
            <a:avLst/>
          </a:prstGeom>
          <a:noFill/>
          <a:ln/>
        </p:spPr>
        <p:txBody>
          <a:bodyPr wrap="square" lIns="0" tIns="0" rIns="0" bIns="0" rtlCol="0" anchor="t"/>
          <a:lstStyle/>
          <a:p>
            <a:pPr indent="0" marL="0">
              <a:buNone/>
            </a:pPr>
            <a:r>
              <a:rPr lang="en-US" sz="2100" b="1" dirty="0">
                <a:solidFill>
                  <a:srgbClr val="EDF2F7"/>
                </a:solidFill>
                <a:latin typeface="Arial" pitchFamily="34" charset="0"/>
                <a:ea typeface="Arial" pitchFamily="34" charset="-122"/>
                <a:cs typeface="Arial" pitchFamily="34" charset="-120"/>
              </a:rPr>
              <a:t>User review</a:t>
            </a:r>
            <a:endParaRPr lang="en-US" sz="2100" dirty="0"/>
          </a:p>
        </p:txBody>
      </p:sp>
      <p:sp>
        <p:nvSpPr>
          <p:cNvPr id="27" name="Text 24"/>
          <p:cNvSpPr/>
          <p:nvPr/>
        </p:nvSpPr>
        <p:spPr>
          <a:xfrm>
            <a:off x="9281160" y="4178808"/>
            <a:ext cx="2130552" cy="576072"/>
          </a:xfrm>
          <a:prstGeom prst="rect">
            <a:avLst/>
          </a:prstGeom>
          <a:noFill/>
          <a:ln/>
        </p:spPr>
        <p:txBody>
          <a:bodyPr wrap="square" lIns="0" tIns="0" rIns="0" bIns="0" rtlCol="0" anchor="t"/>
          <a:lstStyle/>
          <a:p>
            <a:pPr indent="0" marL="0">
              <a:buNone/>
            </a:pPr>
            <a:r>
              <a:rPr lang="en-US" sz="1700" dirty="0">
                <a:solidFill>
                  <a:srgbClr val="BCC9DA"/>
                </a:solidFill>
                <a:latin typeface="Arial" pitchFamily="34" charset="0"/>
                <a:ea typeface="Arial" pitchFamily="34" charset="-122"/>
                <a:cs typeface="Arial" pitchFamily="34" charset="-120"/>
              </a:rPr>
              <a:t>Understand active limits</a:t>
            </a:r>
            <a:endParaRPr lang="en-US" sz="1700" dirty="0"/>
          </a:p>
        </p:txBody>
      </p:sp>
      <p:sp>
        <p:nvSpPr>
          <p:cNvPr id="28" name="Text 25"/>
          <p:cNvSpPr/>
          <p:nvPr/>
        </p:nvSpPr>
        <p:spPr>
          <a:xfrm>
            <a:off x="603504" y="5349240"/>
            <a:ext cx="10927080" cy="676656"/>
          </a:xfrm>
          <a:prstGeom prst="rect">
            <a:avLst/>
          </a:prstGeom>
          <a:noFill/>
          <a:ln/>
        </p:spPr>
        <p:txBody>
          <a:bodyPr wrap="square" lIns="0" tIns="0" rIns="0" bIns="0" rtlCol="0" anchor="t"/>
          <a:lstStyle/>
          <a:p>
            <a:pPr indent="0" marL="0">
              <a:buNone/>
            </a:pPr>
            <a:r>
              <a:rPr lang="en-US" sz="2400" dirty="0">
                <a:solidFill>
                  <a:srgbClr val="8EBCFF"/>
                </a:solidFill>
                <a:latin typeface="Arial" pitchFamily="34" charset="0"/>
                <a:ea typeface="Arial" pitchFamily="34" charset="-122"/>
                <a:cs typeface="Arial" pitchFamily="34" charset="-120"/>
              </a:rPr>
              <a:t>Library: Usage cards/tables plus exported mapping utilities.</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lib-usage-dashboard-04</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04</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The public contract to start with</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UsageLimitCard · selected surface; full API index is in the bundle.</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3474720"/>
                <a:gridCol w="753465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Input or operation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Contract</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data</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UsageLimitCardData</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UsageLimitCardGroupLabels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styles (optional)</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UsageLimitCardGroupStyles</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lib-usage-dashboard-05</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05</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 minimal workspace integration</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TypeScript / React example · imports and host setup abridged.</a:t>
            </a:r>
            <a:endParaRPr lang="en-US" sz="1700" dirty="0"/>
          </a:p>
        </p:txBody>
      </p:sp>
      <p:sp>
        <p:nvSpPr>
          <p:cNvPr id="9" name="Shape 6"/>
          <p:cNvSpPr/>
          <p:nvPr/>
        </p:nvSpPr>
        <p:spPr>
          <a:xfrm>
            <a:off x="548640" y="2606040"/>
            <a:ext cx="11064240" cy="3310128"/>
          </a:xfrm>
          <a:prstGeom prst="roundRect">
            <a:avLst>
              <a:gd name="adj" fmla="val 3315"/>
            </a:avLst>
          </a:prstGeom>
          <a:solidFill>
            <a:srgbClr val="17202C"/>
          </a:solidFill>
          <a:ln w="8890">
            <a:solidFill>
              <a:srgbClr val="33455D"/>
            </a:solidFill>
            <a:prstDash val="solid"/>
          </a:ln>
        </p:spPr>
      </p:sp>
      <p:sp>
        <p:nvSpPr>
          <p:cNvPr id="10" name="Text 7"/>
          <p:cNvSpPr/>
          <p:nvPr/>
        </p:nvSpPr>
        <p:spPr>
          <a:xfrm>
            <a:off x="786384" y="2798064"/>
            <a:ext cx="10561320" cy="2926080"/>
          </a:xfrm>
          <a:prstGeom prst="rect">
            <a:avLst/>
          </a:prstGeom>
          <a:noFill/>
          <a:ln/>
        </p:spPr>
        <p:txBody>
          <a:bodyPr wrap="square" lIns="0" tIns="0" rIns="0" bIns="0" rtlCol="0" anchor="t"/>
          <a:lstStyle/>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&lt;UsageLimitCard labels={labels} data={{</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title: 'Today', periodDescription: 'Today',</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used: 3, total: 10,</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usedLabel: '$3', totalLabel: '$10',</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remainingLabel: '$7', usedPercent: 30,</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status: UsageLimitStatus.Default,</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progressAriaLabel: 'Demo: 3 of 10, 30 percent used',</a:t>
            </a:r>
            <a:endParaRPr lang="en-US" sz="1800" dirty="0"/>
          </a:p>
          <a:p>
            <a:pPr indent="0" marL="0">
              <a:lnSpc>
                <a:spcPct val="104000"/>
              </a:lnSpc>
              <a:buNone/>
            </a:pPr>
            <a:r>
              <a:rPr lang="en-US" sz="1800" dirty="0">
                <a:solidFill>
                  <a:srgbClr val="EDF2F7"/>
                </a:solidFill>
                <a:latin typeface="Courier New" pitchFamily="34" charset="0"/>
                <a:ea typeface="Courier New" pitchFamily="34" charset="-122"/>
                <a:cs typeface="Courier New" pitchFamily="34" charset="-120"/>
              </a:rPr>
              <a:t>}} /&gt;</a:t>
            </a:r>
            <a:endParaRPr lang="en-US" sz="1800" dirty="0"/>
          </a:p>
        </p:txBody>
      </p:sp>
      <p:sp>
        <p:nvSpPr>
          <p:cNvPr id="11" name="Text 8"/>
          <p:cNvSpPr/>
          <p:nvPr/>
        </p:nvSpPr>
        <p:spPr>
          <a:xfrm>
            <a:off x="594360" y="6016752"/>
            <a:ext cx="10881360" cy="219456"/>
          </a:xfrm>
          <a:prstGeom prst="rect">
            <a:avLst/>
          </a:prstGeom>
          <a:noFill/>
          <a:ln/>
        </p:spPr>
        <p:txBody>
          <a:bodyPr wrap="square" lIns="0" tIns="0" rIns="0" bIns="0" rtlCol="0" anchor="t"/>
          <a:lstStyle/>
          <a:p>
            <a:pPr indent="0" marL="0">
              <a:buNone/>
            </a:pPr>
            <a:r>
              <a:rPr lang="en-US" sz="1200" dirty="0">
                <a:solidFill>
                  <a:srgbClr val="BCC9DA"/>
                </a:solidFill>
                <a:latin typeface="Arial" pitchFamily="34" charset="0"/>
                <a:ea typeface="Arial" pitchFamily="34" charset="-122"/>
                <a:cs typeface="Arial" pitchFamily="34" charset="-120"/>
              </a:rPr>
              <a:t>Full example: examples/usage-dashboard.tsx · uses @epam/ai-dial-usage-dashboard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lib-usage-dashboard-10</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06</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See preformatted usage data in context</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Reproducible demo · actual workspace source components</a:t>
            </a:r>
            <a:endParaRPr lang="en-US" sz="1700" dirty="0"/>
          </a:p>
        </p:txBody>
      </p:sp>
      <p:pic>
        <p:nvPicPr>
          <p:cNvPr id="9" name="Image 1" descr="assets/component-demo.png">    </p:cNvPr>
          <p:cNvPicPr>
            <a:picLocks noChangeAspect="1"/>
          </p:cNvPicPr>
          <p:nvPr/>
        </p:nvPicPr>
        <p:blipFill>
          <a:blip r:embed="rId2"/>
          <a:stretch>
            <a:fillRect/>
          </a:stretch>
        </p:blipFill>
        <p:spPr>
          <a:xfrm>
            <a:off x="594360" y="2432304"/>
            <a:ext cx="7360920" cy="3630168"/>
          </a:xfrm>
          <a:prstGeom prst="rect">
            <a:avLst/>
          </a:prstGeom>
        </p:spPr>
      </p:pic>
      <p:sp>
        <p:nvSpPr>
          <p:cNvPr id="10" name="Shape 6"/>
          <p:cNvSpPr/>
          <p:nvPr/>
        </p:nvSpPr>
        <p:spPr>
          <a:xfrm>
            <a:off x="8229600" y="2432304"/>
            <a:ext cx="3364992" cy="3630168"/>
          </a:xfrm>
          <a:prstGeom prst="roundRect">
            <a:avLst>
              <a:gd name="adj" fmla="val 3261"/>
            </a:avLst>
          </a:prstGeom>
          <a:solidFill>
            <a:srgbClr val="17202C"/>
          </a:solidFill>
          <a:ln w="8890">
            <a:solidFill>
              <a:srgbClr val="33455D"/>
            </a:solidFill>
            <a:prstDash val="solid"/>
          </a:ln>
        </p:spPr>
      </p:sp>
      <p:sp>
        <p:nvSpPr>
          <p:cNvPr id="11" name="Text 7"/>
          <p:cNvSpPr/>
          <p:nvPr/>
        </p:nvSpPr>
        <p:spPr>
          <a:xfrm>
            <a:off x="8458200" y="2697480"/>
            <a:ext cx="2834640" cy="731520"/>
          </a:xfrm>
          <a:prstGeom prst="rect">
            <a:avLst/>
          </a:prstGeom>
          <a:noFill/>
          <a:ln/>
        </p:spPr>
        <p:txBody>
          <a:bodyPr wrap="square" lIns="0" tIns="0" rIns="0" bIns="0" rtlCol="0" anchor="t"/>
          <a:lstStyle/>
          <a:p>
            <a:pPr indent="0" marL="0">
              <a:buNone/>
            </a:pPr>
            <a:r>
              <a:rPr lang="en-US" sz="2500" b="1" dirty="0">
                <a:solidFill>
                  <a:srgbClr val="EDF2F7"/>
                </a:solidFill>
                <a:latin typeface="Arial" pitchFamily="34" charset="0"/>
                <a:ea typeface="Arial" pitchFamily="34" charset="-122"/>
                <a:cs typeface="Arial" pitchFamily="34" charset="-120"/>
              </a:rPr>
              <a:t>Host-owned values</a:t>
            </a:r>
            <a:endParaRPr lang="en-US" sz="2500" dirty="0"/>
          </a:p>
        </p:txBody>
      </p:sp>
      <p:sp>
        <p:nvSpPr>
          <p:cNvPr id="12" name="Text 8"/>
          <p:cNvSpPr/>
          <p:nvPr/>
        </p:nvSpPr>
        <p:spPr>
          <a:xfrm>
            <a:off x="8458200" y="3611880"/>
            <a:ext cx="2834640" cy="2075688"/>
          </a:xfrm>
          <a:prstGeom prst="rect">
            <a:avLst/>
          </a:prstGeom>
          <a:noFill/>
          <a:ln/>
        </p:spPr>
        <p:txBody>
          <a:bodyPr wrap="square" lIns="0" tIns="0" rIns="0" bIns="0" rtlCol="0" anchor="t"/>
          <a:lstStyle/>
          <a:p>
            <a:pPr indent="0" marL="0">
              <a:buNone/>
            </a:pPr>
            <a:r>
              <a:rPr lang="en-US" sz="2100" dirty="0">
                <a:solidFill>
                  <a:srgbClr val="EDF2F7"/>
                </a:solidFill>
                <a:latin typeface="Arial" pitchFamily="34" charset="0"/>
                <a:ea typeface="Arial" pitchFamily="34" charset="-122"/>
                <a:cs typeface="Arial" pitchFamily="34" charset="-120"/>
              </a:rPr>
              <a:t>The host supplies $3 used, a $10 limit, 30% and a status. The card presents these demo values.</a:t>
            </a:r>
            <a:endParaRPr lang="en-US" sz="2100" dirty="0"/>
          </a:p>
        </p:txBody>
      </p:sp>
      <p:sp>
        <p:nvSpPr>
          <p:cNvPr id="13" name="Text 9"/>
          <p:cNvSpPr/>
          <p:nvPr/>
        </p:nvSpPr>
        <p:spPr>
          <a:xfrm>
            <a:off x="621792" y="6126480"/>
            <a:ext cx="10332720" cy="173736"/>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DEMO · real components rendered from this source snapshot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lib-usage-dashboard-06</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07</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Wire a realistic host workflow</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Keep usage dashboard focused on its public responsibility.</a:t>
            </a:r>
            <a:endParaRPr lang="en-US" sz="1700" dirty="0"/>
          </a:p>
        </p:txBody>
      </p:sp>
      <p:sp>
        <p:nvSpPr>
          <p:cNvPr id="9" name="Shape 6"/>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10" name="Text 7"/>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1" name="Text 8"/>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Prepare usage data</a:t>
            </a:r>
            <a:endParaRPr lang="en-US" sz="2600" dirty="0"/>
          </a:p>
        </p:txBody>
      </p:sp>
      <p:sp>
        <p:nvSpPr>
          <p:cNvPr id="12" name="Text 9"/>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host maps raw usage to the card’s normalized data.</a:t>
            </a:r>
            <a:endParaRPr lang="en-US" sz="2200" dirty="0"/>
          </a:p>
        </p:txBody>
      </p:sp>
      <p:sp>
        <p:nvSpPr>
          <p:cNvPr id="13" name="Shape 10"/>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4" name="Text 11"/>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5" name="Text 12"/>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Format the values</a:t>
            </a:r>
            <a:endParaRPr lang="en-US" sz="2600" dirty="0"/>
          </a:p>
        </p:txBody>
      </p:sp>
      <p:sp>
        <p:nvSpPr>
          <p:cNvPr id="16" name="Text 13"/>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amount labels, percentage, status and optional reset text.</a:t>
            </a:r>
            <a:endParaRPr lang="en-US" sz="2200" dirty="0"/>
          </a:p>
        </p:txBody>
      </p:sp>
      <p:sp>
        <p:nvSpPr>
          <p:cNvPr id="17" name="Shape 14"/>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8" name="Text 15"/>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9" name="Text 16"/>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Render the summary</a:t>
            </a:r>
            <a:endParaRPr lang="en-US" sz="2600" dirty="0"/>
          </a:p>
        </p:txBody>
      </p:sp>
      <p:sp>
        <p:nvSpPr>
          <p:cNvPr id="20" name="Text 17"/>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The card presents the values and accessible progress text.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lib-usage-dashboard-07</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08</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Available customization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Semantic states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UsageLimitStatus distinguishes normal, warning and reached states.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Accessible progress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Supply preformatted progressAriaLabel and reset text.</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Mapping exports</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Usage-to-dashboard and model-limit mapping helpers are public exports.</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lib-usage-dashboard-08</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09</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Find the integration and its checks</a:t>
            </a:r>
            <a:endParaRPr lang="en-US" sz="3600" dirty="0"/>
          </a:p>
        </p:txBody>
      </p:sp>
      <p:sp>
        <p:nvSpPr>
          <p:cNvPr id="8" name="Text 5"/>
          <p:cNvSpPr/>
          <p:nvPr/>
        </p:nvSpPr>
        <p:spPr>
          <a:xfrm>
            <a:off x="576072" y="1901952"/>
            <a:ext cx="10972800" cy="457200"/>
          </a:xfrm>
          <a:prstGeom prst="rect">
            <a:avLst/>
          </a:prstGeom>
          <a:noFill/>
          <a:ln/>
        </p:spPr>
        <p:txBody>
          <a:bodyPr wrap="square" lIns="0" tIns="0" rIns="0" bIns="0" rtlCol="0" anchor="t"/>
          <a:lstStyle/>
          <a:p>
            <a:pPr indent="0" marL="0">
              <a:buNone/>
            </a:pPr>
            <a:r>
              <a:rPr lang="en-US" sz="1700" dirty="0">
                <a:solidFill>
                  <a:srgbClr val="8EBCFF"/>
                </a:solidFill>
                <a:latin typeface="Arial" pitchFamily="34" charset="0"/>
                <a:ea typeface="Arial" pitchFamily="34" charset="-122"/>
                <a:cs typeface="Arial" pitchFamily="34" charset="-120"/>
              </a:rPr>
              <a:t>Existing tests are evidence of intended behavior; suite results are not claimed.</a:t>
            </a:r>
            <a:endParaRPr lang="en-US" sz="17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6072" y="2587752"/>
          <a:ext cx="11009376" cy="3246120"/>
        </p:xfrm>
        <a:graphic>
          <a:graphicData uri="http://schemas.openxmlformats.org/drawingml/2006/table">
            <a:tbl>
              <a:tblPr/>
              <a:tblGrid>
                <a:gridCol w="2468880"/>
                <a:gridCol w="8540496"/>
              </a:tblGrid>
              <a:tr h="685800">
                <a:tc>
                  <a:txBody>
                    <a:bodyPr/>
                    <a:lstStyle/>
                    <a:p>
                      <a:pPr indent="0" marL="0">
                        <a:buNone/>
                      </a:pPr>
                      <a:r>
                        <a:rPr lang="en-US" sz="2000" b="1" dirty="0">
                          <a:solidFill>
                            <a:srgbClr val="8EBCFF"/>
                          </a:solidFill>
                          <a:latin typeface="Arial" pitchFamily="34" charset="0"/>
                          <a:ea typeface="Arial" pitchFamily="34" charset="-122"/>
                          <a:cs typeface="Arial" pitchFamily="34" charset="-120"/>
                        </a:rPr>
                        <a:t>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c>
                  <a:txBody>
                    <a:bodyPr/>
                    <a:lstStyle/>
                    <a:p>
                      <a:pPr indent="0" marL="0">
                        <a:buNone/>
                      </a:pPr>
                      <a:r>
                        <a:rPr lang="en-US" sz="2000" b="1" dirty="0">
                          <a:solidFill>
                            <a:srgbClr val="8EBCFF"/>
                          </a:solidFill>
                          <a:latin typeface="Arial" pitchFamily="34" charset="0"/>
                          <a:ea typeface="Arial" pitchFamily="34" charset="-122"/>
                          <a:cs typeface="Arial" pitchFamily="34" charset="-120"/>
                        </a:rPr>
                        <a:t>Where to look</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22324A"/>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Real consumer</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chat/pages/SettingsPage/UsageTab/UsageTab.tsx</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title, used amount and "used of" caption</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r h="685800">
                <a:tc>
                  <a:txBody>
                    <a:bodyPr/>
                    <a:lstStyle/>
                    <a:p>
                      <a:pPr indent="0" marL="0">
                        <a:buNone/>
                      </a:pPr>
                      <a:r>
                        <a:rPr lang="en-US" sz="2000" dirty="0">
                          <a:solidFill>
                            <a:srgbClr val="EDF2F7"/>
                          </a:solidFill>
                          <a:latin typeface="Arial" pitchFamily="34" charset="0"/>
                          <a:ea typeface="Arial" pitchFamily="34" charset="-122"/>
                          <a:cs typeface="Arial" pitchFamily="34" charset="-120"/>
                        </a:rPr>
                        <a:t>Test evidence</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c>
                  <a:txBody>
                    <a:bodyPr/>
                    <a:lstStyle/>
                    <a:p>
                      <a:pPr indent="0" marL="0">
                        <a:buNone/>
                      </a:pPr>
                      <a:r>
                        <a:rPr lang="en-US" sz="2000" dirty="0">
                          <a:solidFill>
                            <a:srgbClr val="EDF2F7"/>
                          </a:solidFill>
                          <a:latin typeface="Arial" pitchFamily="34" charset="0"/>
                          <a:ea typeface="Arial" pitchFamily="34" charset="-122"/>
                          <a:cs typeface="Arial" pitchFamily="34" charset="-120"/>
                        </a:rPr>
                        <a:t>renders the row count separately in the section heading</a:t>
                      </a:r>
                      <a:endParaRPr lang="en-US" sz="2000" dirty="0">
                        <a:latin typeface="Arial" charset="0"/>
                        <a:ea typeface="Arial" charset="0"/>
                        <a:cs typeface="Arial" charset="0"/>
                      </a:endParaRPr>
                    </a:p>
                  </a:txBody>
                  <a:tcPr marL="146304" marR="146304" marT="146304" marB="146304">
                    <a:lnL w="6350" cap="flat" cmpd="sng" algn="ctr">
                      <a:solidFill>
                        <a:srgbClr val="33455D"/>
                      </a:solidFill>
                      <a:prstDash val="solid"/>
                      <a:round/>
                      <a:headEnd type="none" w="med" len="med"/>
                      <a:tailEnd type="none" w="med" len="med"/>
                    </a:lnL>
                    <a:lnR w="6350" cap="flat" cmpd="sng" algn="ctr">
                      <a:solidFill>
                        <a:srgbClr val="33455D"/>
                      </a:solidFill>
                      <a:prstDash val="solid"/>
                      <a:round/>
                      <a:headEnd type="none" w="med" len="med"/>
                      <a:tailEnd type="none" w="med" len="med"/>
                    </a:lnR>
                    <a:lnT w="6350" cap="flat" cmpd="sng" algn="ctr">
                      <a:solidFill>
                        <a:srgbClr val="33455D"/>
                      </a:solidFill>
                      <a:prstDash val="solid"/>
                      <a:round/>
                      <a:headEnd type="none" w="med" len="med"/>
                      <a:tailEnd type="none" w="med" len="med"/>
                    </a:lnT>
                    <a:lnB w="6350" cap="flat" cmpd="sng" algn="ctr">
                      <a:solidFill>
                        <a:srgbClr val="33455D"/>
                      </a:solidFill>
                      <a:prstDash val="solid"/>
                      <a:round/>
                      <a:headEnd type="none" w="med" len="med"/>
                      <a:tailEnd type="none" w="med" len="med"/>
                    </a:lnB>
                    <a:solidFill>
                      <a:srgbClr val="17202C"/>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pic>
        <p:nvPicPr>
          <p:cNvPr id="2" name="Image 0" descr="assets/favicon.png">    </p:cNvPr>
          <p:cNvPicPr>
            <a:picLocks noChangeAspect="1"/>
          </p:cNvPicPr>
          <p:nvPr/>
        </p:nvPicPr>
        <p:blipFill>
          <a:blip r:embed="rId1"/>
          <a:stretch>
            <a:fillRect/>
          </a:stretch>
        </p:blipFill>
        <p:spPr>
          <a:xfrm>
            <a:off x="11247120" y="384048"/>
            <a:ext cx="384048" cy="384048"/>
          </a:xfrm>
          <a:prstGeom prst="rect">
            <a:avLst/>
          </a:prstGeom>
        </p:spPr>
      </p:pic>
      <p:sp>
        <p:nvSpPr>
          <p:cNvPr id="3" name="Text 0"/>
          <p:cNvSpPr/>
          <p:nvPr/>
        </p:nvSpPr>
        <p:spPr>
          <a:xfrm>
            <a:off x="548640" y="411480"/>
            <a:ext cx="10287000" cy="201168"/>
          </a:xfrm>
          <a:prstGeom prst="rect">
            <a:avLst/>
          </a:prstGeom>
          <a:noFill/>
          <a:ln/>
        </p:spPr>
        <p:txBody>
          <a:bodyPr wrap="square" lIns="0" tIns="0" rIns="0" bIns="0" rtlCol="0" anchor="t"/>
          <a:lstStyle/>
          <a:p>
            <a:pPr indent="0" marL="0">
              <a:buNone/>
            </a:pPr>
            <a:r>
              <a:rPr lang="en-US" sz="1100" spc="140" kern="0" dirty="0">
                <a:solidFill>
                  <a:srgbClr val="BCC9DA"/>
                </a:solidFill>
                <a:latin typeface="Arial" pitchFamily="34" charset="0"/>
                <a:ea typeface="Arial" pitchFamily="34" charset="-122"/>
                <a:cs typeface="Arial" pitchFamily="34" charset="-120"/>
              </a:rPr>
              <a:t>AI DIAL  /  LIBRARY DEEP DIVE</a:t>
            </a:r>
            <a:endParaRPr lang="en-US" sz="1100" dirty="0"/>
          </a:p>
        </p:txBody>
      </p:sp>
      <p:sp>
        <p:nvSpPr>
          <p:cNvPr id="4" name="Text 1"/>
          <p:cNvSpPr/>
          <p:nvPr/>
        </p:nvSpPr>
        <p:spPr>
          <a:xfrm>
            <a:off x="548640" y="6400800"/>
            <a:ext cx="7772400" cy="182880"/>
          </a:xfrm>
          <a:prstGeom prst="rect">
            <a:avLst/>
          </a:prstGeom>
          <a:noFill/>
          <a:ln/>
        </p:spPr>
        <p:txBody>
          <a:bodyPr wrap="square" lIns="0" tIns="0" rIns="0" bIns="0" rtlCol="0" anchor="t"/>
          <a:lstStyle/>
          <a:p>
            <a:pPr indent="0" marL="0">
              <a:buNone/>
            </a:pPr>
            <a:r>
              <a:rPr lang="en-US" sz="1000" dirty="0">
                <a:solidFill>
                  <a:srgbClr val="BCC9DA"/>
                </a:solidFill>
                <a:latin typeface="Arial" pitchFamily="34" charset="0"/>
                <a:ea typeface="Arial" pitchFamily="34" charset="-122"/>
                <a:cs typeface="Arial" pitchFamily="34" charset="-120"/>
              </a:rPr>
              <a:t>Usage dashboard</a:t>
            </a:r>
            <a:endParaRPr lang="en-US" sz="1000" dirty="0"/>
          </a:p>
        </p:txBody>
      </p:sp>
      <p:sp>
        <p:nvSpPr>
          <p:cNvPr id="5" name="Text 2"/>
          <p:cNvSpPr/>
          <p:nvPr/>
        </p:nvSpPr>
        <p:spPr>
          <a:xfrm>
            <a:off x="8229600" y="6400800"/>
            <a:ext cx="2743200" cy="182880"/>
          </a:xfrm>
          <a:prstGeom prst="rect">
            <a:avLst/>
          </a:prstGeom>
          <a:noFill/>
          <a:ln/>
        </p:spPr>
        <p:txBody>
          <a:bodyPr wrap="square" lIns="0" tIns="0" rIns="0" bIns="0" rtlCol="0" anchor="t"/>
          <a:lstStyle/>
          <a:p>
            <a:pPr algn="r" indent="0" marL="0">
              <a:buNone/>
            </a:pPr>
            <a:r>
              <a:rPr lang="en-US" sz="900" dirty="0">
                <a:solidFill>
                  <a:srgbClr val="BCC9DA"/>
                </a:solidFill>
                <a:latin typeface="Arial" pitchFamily="34" charset="0"/>
                <a:ea typeface="Arial" pitchFamily="34" charset="-122"/>
                <a:cs typeface="Arial" pitchFamily="34" charset="-120"/>
              </a:rPr>
              <a:t>lib-usage-dashboard-09</a:t>
            </a:r>
            <a:endParaRPr lang="en-US" sz="900" dirty="0"/>
          </a:p>
        </p:txBody>
      </p:sp>
      <p:sp>
        <p:nvSpPr>
          <p:cNvPr id="6" name="Text 3"/>
          <p:cNvSpPr/>
          <p:nvPr/>
        </p:nvSpPr>
        <p:spPr>
          <a:xfrm>
            <a:off x="11247120" y="6382512"/>
            <a:ext cx="384048" cy="228600"/>
          </a:xfrm>
          <a:prstGeom prst="rect">
            <a:avLst/>
          </a:prstGeom>
          <a:noFill/>
          <a:ln/>
        </p:spPr>
        <p:txBody>
          <a:bodyPr wrap="square" lIns="0" tIns="0" rIns="0" bIns="0" rtlCol="0" anchor="t"/>
          <a:lstStyle/>
          <a:p>
            <a:pPr algn="r" indent="0" marL="0">
              <a:buNone/>
            </a:pPr>
            <a:r>
              <a:rPr lang="en-US" sz="1200" dirty="0">
                <a:solidFill>
                  <a:srgbClr val="8EBCFF"/>
                </a:solidFill>
                <a:latin typeface="Arial" pitchFamily="34" charset="0"/>
                <a:ea typeface="Arial" pitchFamily="34" charset="-122"/>
                <a:cs typeface="Arial" pitchFamily="34" charset="-120"/>
              </a:rPr>
              <a:t>10</a:t>
            </a:r>
            <a:endParaRPr lang="en-US" sz="1200" dirty="0"/>
          </a:p>
        </p:txBody>
      </p:sp>
      <p:sp>
        <p:nvSpPr>
          <p:cNvPr id="7" name="Text 4"/>
          <p:cNvSpPr/>
          <p:nvPr/>
        </p:nvSpPr>
        <p:spPr>
          <a:xfrm>
            <a:off x="548640" y="941832"/>
            <a:ext cx="10972800" cy="1005840"/>
          </a:xfrm>
          <a:prstGeom prst="rect">
            <a:avLst/>
          </a:prstGeom>
          <a:noFill/>
          <a:ln/>
        </p:spPr>
        <p:txBody>
          <a:bodyPr wrap="square" lIns="0" tIns="0" rIns="0" bIns="0" rtlCol="0" anchor="t"/>
          <a:lstStyle/>
          <a:p>
            <a:pPr indent="0" marL="0">
              <a:buNone/>
            </a:pPr>
            <a:r>
              <a:rPr lang="en-US" sz="3600" b="1" dirty="0">
                <a:solidFill>
                  <a:srgbClr val="EDF2F7"/>
                </a:solidFill>
                <a:latin typeface="Arial" pitchFamily="34" charset="0"/>
                <a:ea typeface="Arial" pitchFamily="34" charset="-122"/>
                <a:cs typeface="Arial" pitchFamily="34" charset="-120"/>
              </a:rPr>
              <a:t>Constraints that affect integration</a:t>
            </a:r>
            <a:endParaRPr lang="en-US" sz="3600" dirty="0"/>
          </a:p>
        </p:txBody>
      </p:sp>
      <p:sp>
        <p:nvSpPr>
          <p:cNvPr id="8" name="Shape 5"/>
          <p:cNvSpPr/>
          <p:nvPr/>
        </p:nvSpPr>
        <p:spPr>
          <a:xfrm>
            <a:off x="548640" y="2560320"/>
            <a:ext cx="3480816" cy="3383280"/>
          </a:xfrm>
          <a:prstGeom prst="roundRect">
            <a:avLst>
              <a:gd name="adj" fmla="val 3243"/>
            </a:avLst>
          </a:prstGeom>
          <a:solidFill>
            <a:srgbClr val="17202C"/>
          </a:solidFill>
          <a:ln w="8890">
            <a:solidFill>
              <a:srgbClr val="33455D"/>
            </a:solidFill>
            <a:prstDash val="solid"/>
          </a:ln>
        </p:spPr>
      </p:sp>
      <p:sp>
        <p:nvSpPr>
          <p:cNvPr id="9" name="Text 6"/>
          <p:cNvSpPr/>
          <p:nvPr/>
        </p:nvSpPr>
        <p:spPr>
          <a:xfrm>
            <a:off x="777240"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01</a:t>
            </a:r>
            <a:endParaRPr lang="en-US" sz="1500" dirty="0"/>
          </a:p>
        </p:txBody>
      </p:sp>
      <p:sp>
        <p:nvSpPr>
          <p:cNvPr id="10" name="Text 7"/>
          <p:cNvSpPr/>
          <p:nvPr/>
        </p:nvSpPr>
        <p:spPr>
          <a:xfrm>
            <a:off x="777240"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Calendar periods</a:t>
            </a:r>
            <a:endParaRPr lang="en-US" sz="2600" dirty="0"/>
          </a:p>
        </p:txBody>
      </p:sp>
      <p:sp>
        <p:nvSpPr>
          <p:cNvPr id="11" name="Text 8"/>
          <p:cNvSpPr/>
          <p:nvPr/>
        </p:nvSpPr>
        <p:spPr>
          <a:xfrm>
            <a:off x="777240"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Today/week/month are calendar windows, not rolling durations.</a:t>
            </a:r>
            <a:endParaRPr lang="en-US" sz="2200" dirty="0"/>
          </a:p>
        </p:txBody>
      </p:sp>
      <p:sp>
        <p:nvSpPr>
          <p:cNvPr id="12" name="Shape 9"/>
          <p:cNvSpPr/>
          <p:nvPr/>
        </p:nvSpPr>
        <p:spPr>
          <a:xfrm>
            <a:off x="4340352" y="2560320"/>
            <a:ext cx="3480816" cy="3383280"/>
          </a:xfrm>
          <a:prstGeom prst="roundRect">
            <a:avLst>
              <a:gd name="adj" fmla="val 3243"/>
            </a:avLst>
          </a:prstGeom>
          <a:solidFill>
            <a:srgbClr val="17202C"/>
          </a:solidFill>
          <a:ln w="8890">
            <a:solidFill>
              <a:srgbClr val="33455D"/>
            </a:solidFill>
            <a:prstDash val="solid"/>
          </a:ln>
        </p:spPr>
      </p:sp>
      <p:sp>
        <p:nvSpPr>
          <p:cNvPr id="13" name="Text 10"/>
          <p:cNvSpPr/>
          <p:nvPr/>
        </p:nvSpPr>
        <p:spPr>
          <a:xfrm>
            <a:off x="4568952"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02</a:t>
            </a:r>
            <a:endParaRPr lang="en-US" sz="1500" dirty="0"/>
          </a:p>
        </p:txBody>
      </p:sp>
      <p:sp>
        <p:nvSpPr>
          <p:cNvPr id="14" name="Text 11"/>
          <p:cNvSpPr/>
          <p:nvPr/>
        </p:nvSpPr>
        <p:spPr>
          <a:xfrm>
            <a:off x="4568952"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Components and helpers</a:t>
            </a:r>
            <a:endParaRPr lang="en-US" sz="2600" dirty="0"/>
          </a:p>
        </p:txBody>
      </p:sp>
      <p:sp>
        <p:nvSpPr>
          <p:cNvPr id="15" name="Text 12"/>
          <p:cNvSpPr/>
          <p:nvPr/>
        </p:nvSpPr>
        <p:spPr>
          <a:xfrm>
            <a:off x="4568952"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Cards consume display data; exported helpers do perform mapping.</a:t>
            </a:r>
            <a:endParaRPr lang="en-US" sz="2200" dirty="0"/>
          </a:p>
        </p:txBody>
      </p:sp>
      <p:sp>
        <p:nvSpPr>
          <p:cNvPr id="16" name="Shape 13"/>
          <p:cNvSpPr/>
          <p:nvPr/>
        </p:nvSpPr>
        <p:spPr>
          <a:xfrm>
            <a:off x="8132064" y="2560320"/>
            <a:ext cx="3480816" cy="3383280"/>
          </a:xfrm>
          <a:prstGeom prst="roundRect">
            <a:avLst>
              <a:gd name="adj" fmla="val 3243"/>
            </a:avLst>
          </a:prstGeom>
          <a:solidFill>
            <a:srgbClr val="17202C"/>
          </a:solidFill>
          <a:ln w="8890">
            <a:solidFill>
              <a:srgbClr val="33455D"/>
            </a:solidFill>
            <a:prstDash val="solid"/>
          </a:ln>
        </p:spPr>
      </p:sp>
      <p:sp>
        <p:nvSpPr>
          <p:cNvPr id="17" name="Text 14"/>
          <p:cNvSpPr/>
          <p:nvPr/>
        </p:nvSpPr>
        <p:spPr>
          <a:xfrm>
            <a:off x="8360664" y="2779776"/>
            <a:ext cx="3023616" cy="310896"/>
          </a:xfrm>
          <a:prstGeom prst="rect">
            <a:avLst/>
          </a:prstGeom>
          <a:noFill/>
          <a:ln/>
        </p:spPr>
        <p:txBody>
          <a:bodyPr wrap="square" lIns="0" tIns="0" rIns="0" bIns="0" rtlCol="0" anchor="t"/>
          <a:lstStyle/>
          <a:p>
            <a:pPr indent="0" marL="0">
              <a:buNone/>
            </a:pPr>
            <a:r>
              <a:rPr lang="en-US" sz="1500" dirty="0">
                <a:solidFill>
                  <a:srgbClr val="8EBCFF"/>
                </a:solidFill>
                <a:latin typeface="Arial" pitchFamily="34" charset="0"/>
                <a:ea typeface="Arial" pitchFamily="34" charset="-122"/>
                <a:cs typeface="Arial" pitchFamily="34" charset="-120"/>
              </a:rPr>
              <a:t>03</a:t>
            </a:r>
            <a:endParaRPr lang="en-US" sz="1500" dirty="0"/>
          </a:p>
        </p:txBody>
      </p:sp>
      <p:sp>
        <p:nvSpPr>
          <p:cNvPr id="18" name="Text 15"/>
          <p:cNvSpPr/>
          <p:nvPr/>
        </p:nvSpPr>
        <p:spPr>
          <a:xfrm>
            <a:off x="8360664" y="3273552"/>
            <a:ext cx="3023616" cy="777240"/>
          </a:xfrm>
          <a:prstGeom prst="rect">
            <a:avLst/>
          </a:prstGeom>
          <a:noFill/>
          <a:ln/>
        </p:spPr>
        <p:txBody>
          <a:bodyPr wrap="square" lIns="0" tIns="0" rIns="0" bIns="0" rtlCol="0" anchor="t"/>
          <a:lstStyle/>
          <a:p>
            <a:pPr indent="0" marL="0">
              <a:buNone/>
            </a:pPr>
            <a:r>
              <a:rPr lang="en-US" sz="2600" b="1" dirty="0">
                <a:solidFill>
                  <a:srgbClr val="EDF2F7"/>
                </a:solidFill>
                <a:latin typeface="Arial" pitchFamily="34" charset="0"/>
                <a:ea typeface="Arial" pitchFamily="34" charset="-122"/>
                <a:cs typeface="Arial" pitchFamily="34" charset="-120"/>
              </a:rPr>
              <a:t>Isolation discrepancy</a:t>
            </a:r>
            <a:endParaRPr lang="en-US" sz="2600" dirty="0"/>
          </a:p>
        </p:txBody>
      </p:sp>
      <p:sp>
        <p:nvSpPr>
          <p:cNvPr id="19" name="Text 16"/>
          <p:cNvSpPr/>
          <p:nvPr/>
        </p:nvSpPr>
        <p:spPr>
          <a:xfrm>
            <a:off x="8360664" y="4224528"/>
            <a:ext cx="3023616" cy="1490472"/>
          </a:xfrm>
          <a:prstGeom prst="rect">
            <a:avLst/>
          </a:prstGeom>
          <a:noFill/>
          <a:ln/>
        </p:spPr>
        <p:txBody>
          <a:bodyPr wrap="square" lIns="0" tIns="0" rIns="0" bIns="0" rtlCol="0" anchor="t"/>
          <a:lstStyle/>
          <a:p>
            <a:pPr indent="0" marL="0">
              <a:buNone/>
            </a:pPr>
            <a:r>
              <a:rPr lang="en-US" sz="2200" dirty="0">
                <a:solidFill>
                  <a:srgbClr val="EDF2F7"/>
                </a:solidFill>
                <a:latin typeface="Arial" pitchFamily="34" charset="0"/>
                <a:ea typeface="Arial" pitchFamily="34" charset="-122"/>
                <a:cs typeface="Arial" pitchFamily="34" charset="-120"/>
              </a:rPr>
              <a:t>Mapping source imports generated API DTOs outside the documented exception.</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AI DIAL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Usage dashboard</dc:title>
  <dc:subject>Explain cost and model limits using normalized display data.</dc:subject>
  <dc:creator>AI DIAL technical knowledge sharing</dc:creator>
  <cp:lastModifiedBy>AI DIAL technical knowledge sharing</cp:lastModifiedBy>
  <cp:revision>1</cp:revision>
  <dcterms:created xsi:type="dcterms:W3CDTF">2026-09-21T18:59:28Z</dcterms:created>
  <dcterms:modified xsi:type="dcterms:W3CDTF">2026-09-21T18:59:28Z</dcterms:modified>
</cp:coreProperties>
</file>